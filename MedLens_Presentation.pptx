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353"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6039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medicine labels are information-dense, but not easy for ordinary users to interpret. Chemical names, abbreviations, strengths, several ingredients (active and inactive). Users usually have to search the medicine name and then interpret each ingredient separately. The label photo contains everything needed — it just is not presented in an understandable form.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MedLens is an image-first pipeline: scan, OCR/vision, ingredient extraction, normalization, verification against trusted references, AI explanation, and a structured report. The AI layer explains verified content — it is not treated as the source of truth. When the label is unclear, the system flags uncertainty instead of guessing.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a smarter model. The differentiation is the workflow: image-first input, automatic composition extraction, normalization, trusted-source verification, structured reports with confidence and uncertainty, and safety boundaries. GPT/Gemini/Claude can be used inside the pipeline as the explanation layer. MedLens is a specialized information layer, not an LLM wrapper.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planned stack from the project specification: React/Next.js frontend, Python + FastAPI backend, Tesseract or cloud OCR plus a vision-capable model where needed, LLM with RAG and vector search, PostgreSQL (pgvector or another vector DB), GitHub, and Vercel with a cloud backend. The architecture is modular so providers can be swapped.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Key backup points: MedLens is informational only (no diagnosis or prescribing); uncertain labels are flagged rather than guessed; GPT/Gemini/Claude can be used inside the pipeline.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6.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marL="0" indent="0">
              <a:buNone/>
            </a:pPr>
            <a:r>
              <a:rPr lang="en-US" sz="1200" b="1" kern="0" spc="400" dirty="0">
                <a:solidFill>
                  <a:srgbClr val="1565D8"/>
                </a:solidFill>
                <a:latin typeface="Calibri" pitchFamily="34" charset="0"/>
                <a:ea typeface="Calibri" pitchFamily="34" charset="-122"/>
                <a:cs typeface="Calibri" pitchFamily="34" charset="-120"/>
              </a:rPr>
              <a:t>01  ·  THE PROBLEM</a:t>
            </a:r>
            <a:endParaRPr lang="en-US" sz="1200" dirty="0"/>
          </a:p>
        </p:txBody>
      </p:sp>
      <p:sp>
        <p:nvSpPr>
          <p:cNvPr id="3" name="Text 1"/>
          <p:cNvSpPr txBox="1"/>
          <p:nvPr/>
        </p:nvSpPr>
        <p:spPr>
          <a:xfrm>
            <a:off x="548640" y="6473952"/>
            <a:ext cx="8229600" cy="22860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MedLens  ·  Informational tool — not a diagnosis or prescription</a:t>
            </a:r>
            <a:endParaRPr lang="en-US" sz="1000" dirty="0"/>
          </a:p>
        </p:txBody>
      </p:sp>
      <p:sp>
        <p:nvSpPr>
          <p:cNvPr id="4" name="Text 2"/>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 / 5</a:t>
            </a:r>
            <a:endParaRPr lang="en-US" sz="1000" dirty="0"/>
          </a:p>
        </p:txBody>
      </p:sp>
      <p:sp>
        <p:nvSpPr>
          <p:cNvPr id="5" name="Text 3"/>
          <p:cNvSpPr txBox="1"/>
          <p:nvPr/>
        </p:nvSpPr>
        <p:spPr>
          <a:xfrm>
            <a:off x="548640" y="658368"/>
            <a:ext cx="11094415" cy="685800"/>
          </a:xfrm>
          <a:prstGeom prst="rect">
            <a:avLst/>
          </a:prstGeom>
          <a:noFill/>
          <a:ln/>
        </p:spPr>
        <p:txBody>
          <a:bodyPr wrap="square" lIns="0" tIns="0" rIns="0" bIns="0" rtlCol="0" anchor="ctr"/>
          <a:lstStyle/>
          <a:p>
            <a:pPr marL="0" indent="0">
              <a:buNone/>
            </a:pPr>
            <a:r>
              <a:rPr lang="en-US" sz="3800" b="1" dirty="0">
                <a:solidFill>
                  <a:srgbClr val="0B1F3F"/>
                </a:solidFill>
                <a:latin typeface="Calibri" pitchFamily="34" charset="0"/>
                <a:ea typeface="Calibri" pitchFamily="34" charset="-122"/>
                <a:cs typeface="Calibri" pitchFamily="34" charset="-120"/>
              </a:rPr>
              <a:t>Medicine labels are hard to understand</a:t>
            </a:r>
            <a:endParaRPr lang="en-US" sz="3800" dirty="0"/>
          </a:p>
        </p:txBody>
      </p:sp>
      <p:sp>
        <p:nvSpPr>
          <p:cNvPr id="6" name="Shape 4"/>
          <p:cNvSpPr/>
          <p:nvPr/>
        </p:nvSpPr>
        <p:spPr>
          <a:xfrm>
            <a:off x="548640" y="1600200"/>
            <a:ext cx="3429000" cy="2651760"/>
          </a:xfrm>
          <a:prstGeom prst="roundRect">
            <a:avLst>
              <a:gd name="adj" fmla="val 5172"/>
            </a:avLst>
          </a:prstGeom>
          <a:solidFill>
            <a:srgbClr val="EEF5FB"/>
          </a:solidFill>
          <a:ln w="6350">
            <a:solidFill>
              <a:srgbClr val="EEF5FB"/>
            </a:solidFill>
            <a:prstDash val="solid"/>
          </a:ln>
          <a:effectLst>
            <a:outerShdw blurRad="127000" dist="25400" dir="5400000" algn="bl" rotWithShape="0">
              <a:srgbClr val="0B1F3F">
                <a:alpha val="10000"/>
              </a:srgbClr>
            </a:outerShdw>
          </a:effectLst>
        </p:spPr>
      </p:sp>
      <p:sp>
        <p:nvSpPr>
          <p:cNvPr id="7" name="Shape 5"/>
          <p:cNvSpPr/>
          <p:nvPr/>
        </p:nvSpPr>
        <p:spPr>
          <a:xfrm>
            <a:off x="822960" y="1874520"/>
            <a:ext cx="640080" cy="640080"/>
          </a:xfrm>
          <a:prstGeom prst="ellipse">
            <a:avLst/>
          </a:prstGeom>
          <a:solidFill>
            <a:srgbClr val="0B1F3F"/>
          </a:solidFill>
          <a:ln w="6350">
            <a:solidFill>
              <a:srgbClr val="0B1F3F"/>
            </a:solidFill>
            <a:prstDash val="solid"/>
          </a:ln>
        </p:spPr>
      </p:sp>
      <p:pic>
        <p:nvPicPr>
          <p:cNvPr id="8" name="Image 0" descr="preencoded.png"/>
          <p:cNvPicPr>
            <a:picLocks noChangeAspect="1"/>
          </p:cNvPicPr>
          <p:nvPr/>
        </p:nvPicPr>
        <p:blipFill>
          <a:blip r:embed="rId3"/>
          <a:stretch>
            <a:fillRect/>
          </a:stretch>
        </p:blipFill>
        <p:spPr>
          <a:xfrm>
            <a:off x="982980" y="2034540"/>
            <a:ext cx="320040" cy="320040"/>
          </a:xfrm>
          <a:prstGeom prst="rect">
            <a:avLst/>
          </a:prstGeom>
        </p:spPr>
      </p:pic>
      <p:sp>
        <p:nvSpPr>
          <p:cNvPr id="9" name="Text 6"/>
          <p:cNvSpPr txBox="1"/>
          <p:nvPr/>
        </p:nvSpPr>
        <p:spPr>
          <a:xfrm>
            <a:off x="1600200" y="1874520"/>
            <a:ext cx="2240280" cy="640080"/>
          </a:xfrm>
          <a:prstGeom prst="rect">
            <a:avLst/>
          </a:prstGeom>
          <a:noFill/>
          <a:ln/>
        </p:spPr>
        <p:txBody>
          <a:bodyPr wrap="square" lIns="0" tIns="0" rIns="0" bIns="0" rtlCol="0" anchor="ctr"/>
          <a:lstStyle/>
          <a:p>
            <a:pPr marL="0" indent="0">
              <a:buNone/>
            </a:pPr>
            <a:r>
              <a:rPr lang="en-US" sz="2000" b="1" dirty="0">
                <a:solidFill>
                  <a:srgbClr val="0B1F3F"/>
                </a:solidFill>
                <a:latin typeface="Calibri" pitchFamily="34" charset="0"/>
                <a:ea typeface="Calibri" pitchFamily="34" charset="-122"/>
                <a:cs typeface="Calibri" pitchFamily="34" charset="-120"/>
              </a:rPr>
              <a:t>Medicine Label</a:t>
            </a:r>
            <a:endParaRPr lang="en-US" sz="2000" dirty="0"/>
          </a:p>
        </p:txBody>
      </p:sp>
      <p:sp>
        <p:nvSpPr>
          <p:cNvPr id="10" name="Text 7"/>
          <p:cNvSpPr txBox="1"/>
          <p:nvPr/>
        </p:nvSpPr>
        <p:spPr>
          <a:xfrm>
            <a:off x="822960" y="2788920"/>
            <a:ext cx="2880360" cy="1280160"/>
          </a:xfrm>
          <a:prstGeom prst="rect">
            <a:avLst/>
          </a:prstGeom>
          <a:noFill/>
          <a:ln/>
        </p:spPr>
        <p:txBody>
          <a:bodyPr wrap="square" lIns="0" tIns="0" rIns="0" bIns="0" rtlCol="0" anchor="t"/>
          <a:lstStyle/>
          <a:p>
            <a:pPr marL="0" indent="0">
              <a:buNone/>
            </a:pPr>
            <a:r>
              <a:rPr lang="en-US" sz="1500" dirty="0">
                <a:solidFill>
                  <a:srgbClr val="1B2A41"/>
                </a:solidFill>
                <a:latin typeface="Calibri" pitchFamily="34" charset="0"/>
                <a:ea typeface="Calibri" pitchFamily="34" charset="-122"/>
                <a:cs typeface="Calibri" pitchFamily="34" charset="-120"/>
              </a:rPr>
              <a:t>Packed with composition, strengths and warnings — but hard to read at a glance.</a:t>
            </a:r>
            <a:endParaRPr lang="en-US" sz="1500" dirty="0"/>
          </a:p>
        </p:txBody>
      </p:sp>
      <p:sp>
        <p:nvSpPr>
          <p:cNvPr id="11" name="Shape 8"/>
          <p:cNvSpPr/>
          <p:nvPr/>
        </p:nvSpPr>
        <p:spPr>
          <a:xfrm>
            <a:off x="4381348" y="1600200"/>
            <a:ext cx="3429000" cy="2651760"/>
          </a:xfrm>
          <a:prstGeom prst="roundRect">
            <a:avLst>
              <a:gd name="adj" fmla="val 5172"/>
            </a:avLst>
          </a:prstGeom>
          <a:solidFill>
            <a:srgbClr val="EEF5FB"/>
          </a:solidFill>
          <a:ln w="6350">
            <a:solidFill>
              <a:srgbClr val="EEF5FB"/>
            </a:solidFill>
            <a:prstDash val="solid"/>
          </a:ln>
          <a:effectLst>
            <a:outerShdw blurRad="127000" dist="25400" dir="5400000" algn="bl" rotWithShape="0">
              <a:srgbClr val="0B1F3F">
                <a:alpha val="10000"/>
              </a:srgbClr>
            </a:outerShdw>
          </a:effectLst>
        </p:spPr>
      </p:sp>
      <p:sp>
        <p:nvSpPr>
          <p:cNvPr id="12" name="Shape 9"/>
          <p:cNvSpPr/>
          <p:nvPr/>
        </p:nvSpPr>
        <p:spPr>
          <a:xfrm>
            <a:off x="4655668" y="1874520"/>
            <a:ext cx="640080" cy="640080"/>
          </a:xfrm>
          <a:prstGeom prst="ellipse">
            <a:avLst/>
          </a:prstGeom>
          <a:solidFill>
            <a:srgbClr val="0B1F3F"/>
          </a:solidFill>
          <a:ln w="6350">
            <a:solidFill>
              <a:srgbClr val="0B1F3F"/>
            </a:solidFill>
            <a:prstDash val="solid"/>
          </a:ln>
        </p:spPr>
      </p:sp>
      <p:pic>
        <p:nvPicPr>
          <p:cNvPr id="13" name="Image 1" descr="preencoded.png"/>
          <p:cNvPicPr>
            <a:picLocks noChangeAspect="1"/>
          </p:cNvPicPr>
          <p:nvPr/>
        </p:nvPicPr>
        <p:blipFill>
          <a:blip r:embed="rId4"/>
          <a:stretch>
            <a:fillRect/>
          </a:stretch>
        </p:blipFill>
        <p:spPr>
          <a:xfrm>
            <a:off x="4815688" y="2034540"/>
            <a:ext cx="320040" cy="320040"/>
          </a:xfrm>
          <a:prstGeom prst="rect">
            <a:avLst/>
          </a:prstGeom>
        </p:spPr>
      </p:pic>
      <p:sp>
        <p:nvSpPr>
          <p:cNvPr id="14" name="Text 10"/>
          <p:cNvSpPr txBox="1"/>
          <p:nvPr/>
        </p:nvSpPr>
        <p:spPr>
          <a:xfrm>
            <a:off x="5432908" y="1874520"/>
            <a:ext cx="2286000" cy="640080"/>
          </a:xfrm>
          <a:prstGeom prst="rect">
            <a:avLst/>
          </a:prstGeom>
          <a:noFill/>
          <a:ln/>
        </p:spPr>
        <p:txBody>
          <a:bodyPr wrap="square" lIns="0" tIns="0" rIns="0" bIns="0" rtlCol="0" anchor="ctr"/>
          <a:lstStyle/>
          <a:p>
            <a:pPr marL="0" indent="0">
              <a:buNone/>
            </a:pPr>
            <a:r>
              <a:rPr lang="en-US" sz="2000" b="1" dirty="0">
                <a:solidFill>
                  <a:srgbClr val="0B1F3F"/>
                </a:solidFill>
                <a:latin typeface="Calibri" pitchFamily="34" charset="0"/>
                <a:ea typeface="Calibri" pitchFamily="34" charset="-122"/>
                <a:cs typeface="Calibri" pitchFamily="34" charset="-120"/>
              </a:rPr>
              <a:t>Complex Information</a:t>
            </a:r>
            <a:endParaRPr lang="en-US" sz="2000" dirty="0"/>
          </a:p>
        </p:txBody>
      </p:sp>
      <p:sp>
        <p:nvSpPr>
          <p:cNvPr id="15" name="Shape 11"/>
          <p:cNvSpPr/>
          <p:nvPr/>
        </p:nvSpPr>
        <p:spPr>
          <a:xfrm>
            <a:off x="4655668" y="2788920"/>
            <a:ext cx="1417320" cy="347472"/>
          </a:xfrm>
          <a:prstGeom prst="roundRect">
            <a:avLst>
              <a:gd name="adj" fmla="val 50000"/>
            </a:avLst>
          </a:prstGeom>
          <a:solidFill>
            <a:srgbClr val="FFFFFF"/>
          </a:solidFill>
          <a:ln w="12700">
            <a:solidFill>
              <a:srgbClr val="D6E6F5"/>
            </a:solidFill>
            <a:prstDash val="solid"/>
          </a:ln>
        </p:spPr>
      </p:sp>
      <p:sp>
        <p:nvSpPr>
          <p:cNvPr id="16" name="Text 12"/>
          <p:cNvSpPr txBox="1"/>
          <p:nvPr/>
        </p:nvSpPr>
        <p:spPr>
          <a:xfrm>
            <a:off x="4655668" y="2788920"/>
            <a:ext cx="1417320" cy="347472"/>
          </a:xfrm>
          <a:prstGeom prst="rect">
            <a:avLst/>
          </a:prstGeom>
          <a:noFill/>
          <a:ln/>
        </p:spPr>
        <p:txBody>
          <a:bodyPr wrap="square" lIns="0" tIns="0" rIns="0" bIns="0" rtlCol="0" anchor="ctr"/>
          <a:lstStyle/>
          <a:p>
            <a:pPr marL="0" indent="0" algn="ctr">
              <a:buNone/>
            </a:pPr>
            <a:r>
              <a:rPr lang="en-US" sz="1200" b="1" dirty="0">
                <a:solidFill>
                  <a:srgbClr val="1B2A41"/>
                </a:solidFill>
                <a:latin typeface="Calibri" pitchFamily="34" charset="0"/>
                <a:ea typeface="Calibri" pitchFamily="34" charset="-122"/>
                <a:cs typeface="Calibri" pitchFamily="34" charset="-120"/>
              </a:rPr>
              <a:t>Chemical names</a:t>
            </a:r>
            <a:endParaRPr lang="en-US" sz="1200" dirty="0"/>
          </a:p>
        </p:txBody>
      </p:sp>
      <p:sp>
        <p:nvSpPr>
          <p:cNvPr id="17" name="Shape 13"/>
          <p:cNvSpPr/>
          <p:nvPr/>
        </p:nvSpPr>
        <p:spPr>
          <a:xfrm>
            <a:off x="6164428" y="2788920"/>
            <a:ext cx="1005840" cy="347472"/>
          </a:xfrm>
          <a:prstGeom prst="roundRect">
            <a:avLst>
              <a:gd name="adj" fmla="val 50000"/>
            </a:avLst>
          </a:prstGeom>
          <a:solidFill>
            <a:srgbClr val="FFFFFF"/>
          </a:solidFill>
          <a:ln w="12700">
            <a:solidFill>
              <a:srgbClr val="D6E6F5"/>
            </a:solidFill>
            <a:prstDash val="solid"/>
          </a:ln>
        </p:spPr>
      </p:sp>
      <p:sp>
        <p:nvSpPr>
          <p:cNvPr id="18" name="Text 14"/>
          <p:cNvSpPr txBox="1"/>
          <p:nvPr/>
        </p:nvSpPr>
        <p:spPr>
          <a:xfrm>
            <a:off x="6164428" y="2788920"/>
            <a:ext cx="1005840" cy="347472"/>
          </a:xfrm>
          <a:prstGeom prst="rect">
            <a:avLst/>
          </a:prstGeom>
          <a:noFill/>
          <a:ln/>
        </p:spPr>
        <p:txBody>
          <a:bodyPr wrap="square" lIns="0" tIns="0" rIns="0" bIns="0" rtlCol="0" anchor="ctr"/>
          <a:lstStyle/>
          <a:p>
            <a:pPr marL="0" indent="0" algn="ctr">
              <a:buNone/>
            </a:pPr>
            <a:r>
              <a:rPr lang="en-US" sz="1200" b="1" dirty="0">
                <a:solidFill>
                  <a:srgbClr val="1B2A41"/>
                </a:solidFill>
                <a:latin typeface="Calibri" pitchFamily="34" charset="0"/>
                <a:ea typeface="Calibri" pitchFamily="34" charset="-122"/>
                <a:cs typeface="Calibri" pitchFamily="34" charset="-120"/>
              </a:rPr>
              <a:t>Strengths</a:t>
            </a:r>
            <a:endParaRPr lang="en-US" sz="1200" dirty="0"/>
          </a:p>
        </p:txBody>
      </p:sp>
      <p:sp>
        <p:nvSpPr>
          <p:cNvPr id="19" name="Shape 15"/>
          <p:cNvSpPr/>
          <p:nvPr/>
        </p:nvSpPr>
        <p:spPr>
          <a:xfrm>
            <a:off x="4655668" y="3246120"/>
            <a:ext cx="1234440" cy="347472"/>
          </a:xfrm>
          <a:prstGeom prst="roundRect">
            <a:avLst>
              <a:gd name="adj" fmla="val 50000"/>
            </a:avLst>
          </a:prstGeom>
          <a:solidFill>
            <a:srgbClr val="FFFFFF"/>
          </a:solidFill>
          <a:ln w="12700">
            <a:solidFill>
              <a:srgbClr val="D6E6F5"/>
            </a:solidFill>
            <a:prstDash val="solid"/>
          </a:ln>
        </p:spPr>
      </p:sp>
      <p:sp>
        <p:nvSpPr>
          <p:cNvPr id="20" name="Text 16"/>
          <p:cNvSpPr txBox="1"/>
          <p:nvPr/>
        </p:nvSpPr>
        <p:spPr>
          <a:xfrm>
            <a:off x="4655668" y="3246120"/>
            <a:ext cx="1234440" cy="347472"/>
          </a:xfrm>
          <a:prstGeom prst="rect">
            <a:avLst/>
          </a:prstGeom>
          <a:noFill/>
          <a:ln/>
        </p:spPr>
        <p:txBody>
          <a:bodyPr wrap="square" lIns="0" tIns="0" rIns="0" bIns="0" rtlCol="0" anchor="ctr"/>
          <a:lstStyle/>
          <a:p>
            <a:pPr marL="0" indent="0" algn="ctr">
              <a:buNone/>
            </a:pPr>
            <a:r>
              <a:rPr lang="en-US" sz="1200" b="1" dirty="0">
                <a:solidFill>
                  <a:srgbClr val="1B2A41"/>
                </a:solidFill>
                <a:latin typeface="Calibri" pitchFamily="34" charset="0"/>
                <a:ea typeface="Calibri" pitchFamily="34" charset="-122"/>
                <a:cs typeface="Calibri" pitchFamily="34" charset="-120"/>
              </a:rPr>
              <a:t>Abbreviations</a:t>
            </a:r>
            <a:endParaRPr lang="en-US" sz="1200" dirty="0"/>
          </a:p>
        </p:txBody>
      </p:sp>
      <p:sp>
        <p:nvSpPr>
          <p:cNvPr id="21" name="Shape 17"/>
          <p:cNvSpPr/>
          <p:nvPr/>
        </p:nvSpPr>
        <p:spPr>
          <a:xfrm>
            <a:off x="5981548" y="3246120"/>
            <a:ext cx="1508760" cy="347472"/>
          </a:xfrm>
          <a:prstGeom prst="roundRect">
            <a:avLst>
              <a:gd name="adj" fmla="val 50000"/>
            </a:avLst>
          </a:prstGeom>
          <a:solidFill>
            <a:srgbClr val="FFFFFF"/>
          </a:solidFill>
          <a:ln w="12700">
            <a:solidFill>
              <a:srgbClr val="D6E6F5"/>
            </a:solidFill>
            <a:prstDash val="solid"/>
          </a:ln>
        </p:spPr>
      </p:sp>
      <p:sp>
        <p:nvSpPr>
          <p:cNvPr id="22" name="Text 18"/>
          <p:cNvSpPr txBox="1"/>
          <p:nvPr/>
        </p:nvSpPr>
        <p:spPr>
          <a:xfrm>
            <a:off x="5981548" y="3246120"/>
            <a:ext cx="1508760" cy="347472"/>
          </a:xfrm>
          <a:prstGeom prst="rect">
            <a:avLst/>
          </a:prstGeom>
          <a:noFill/>
          <a:ln/>
        </p:spPr>
        <p:txBody>
          <a:bodyPr wrap="square" lIns="0" tIns="0" rIns="0" bIns="0" rtlCol="0" anchor="ctr"/>
          <a:lstStyle/>
          <a:p>
            <a:pPr marL="0" indent="0" algn="ctr">
              <a:buNone/>
            </a:pPr>
            <a:r>
              <a:rPr lang="en-US" sz="1200" b="1" dirty="0">
                <a:solidFill>
                  <a:srgbClr val="1B2A41"/>
                </a:solidFill>
                <a:latin typeface="Calibri" pitchFamily="34" charset="0"/>
                <a:ea typeface="Calibri" pitchFamily="34" charset="-122"/>
                <a:cs typeface="Calibri" pitchFamily="34" charset="-120"/>
              </a:rPr>
              <a:t>Multiple ingredients</a:t>
            </a:r>
            <a:endParaRPr lang="en-US" sz="1200" dirty="0"/>
          </a:p>
        </p:txBody>
      </p:sp>
      <p:sp>
        <p:nvSpPr>
          <p:cNvPr id="23" name="Shape 19"/>
          <p:cNvSpPr/>
          <p:nvPr/>
        </p:nvSpPr>
        <p:spPr>
          <a:xfrm>
            <a:off x="4655668" y="3703320"/>
            <a:ext cx="2377440" cy="347472"/>
          </a:xfrm>
          <a:prstGeom prst="roundRect">
            <a:avLst>
              <a:gd name="adj" fmla="val 50000"/>
            </a:avLst>
          </a:prstGeom>
          <a:solidFill>
            <a:srgbClr val="FFFFFF"/>
          </a:solidFill>
          <a:ln w="12700">
            <a:solidFill>
              <a:srgbClr val="D6E6F5"/>
            </a:solidFill>
            <a:prstDash val="solid"/>
          </a:ln>
        </p:spPr>
      </p:sp>
      <p:sp>
        <p:nvSpPr>
          <p:cNvPr id="24" name="Text 20"/>
          <p:cNvSpPr txBox="1"/>
          <p:nvPr/>
        </p:nvSpPr>
        <p:spPr>
          <a:xfrm>
            <a:off x="4655668" y="3703320"/>
            <a:ext cx="2377440" cy="347472"/>
          </a:xfrm>
          <a:prstGeom prst="rect">
            <a:avLst/>
          </a:prstGeom>
          <a:noFill/>
          <a:ln/>
        </p:spPr>
        <p:txBody>
          <a:bodyPr wrap="square" lIns="0" tIns="0" rIns="0" bIns="0" rtlCol="0" anchor="ctr"/>
          <a:lstStyle/>
          <a:p>
            <a:pPr marL="0" indent="0" algn="ctr">
              <a:buNone/>
            </a:pPr>
            <a:r>
              <a:rPr lang="en-US" sz="1200" b="1" dirty="0">
                <a:solidFill>
                  <a:srgbClr val="1B2A41"/>
                </a:solidFill>
                <a:latin typeface="Calibri" pitchFamily="34" charset="0"/>
                <a:ea typeface="Calibri" pitchFamily="34" charset="-122"/>
                <a:cs typeface="Calibri" pitchFamily="34" charset="-120"/>
              </a:rPr>
              <a:t>Active vs. inactive ingredients</a:t>
            </a:r>
            <a:endParaRPr lang="en-US" sz="1200" dirty="0"/>
          </a:p>
        </p:txBody>
      </p:sp>
      <p:sp>
        <p:nvSpPr>
          <p:cNvPr id="25" name="Shape 21"/>
          <p:cNvSpPr/>
          <p:nvPr/>
        </p:nvSpPr>
        <p:spPr>
          <a:xfrm>
            <a:off x="8214055" y="1600200"/>
            <a:ext cx="3429000" cy="2651760"/>
          </a:xfrm>
          <a:prstGeom prst="roundRect">
            <a:avLst>
              <a:gd name="adj" fmla="val 5172"/>
            </a:avLst>
          </a:prstGeom>
          <a:solidFill>
            <a:srgbClr val="0B1F3F"/>
          </a:solidFill>
          <a:ln w="6350">
            <a:solidFill>
              <a:srgbClr val="0B1F3F"/>
            </a:solidFill>
            <a:prstDash val="solid"/>
          </a:ln>
          <a:effectLst>
            <a:outerShdw blurRad="127000" dist="25400" dir="5400000" algn="bl" rotWithShape="0">
              <a:srgbClr val="0B1F3F">
                <a:alpha val="10000"/>
              </a:srgbClr>
            </a:outerShdw>
          </a:effectLst>
        </p:spPr>
      </p:sp>
      <p:sp>
        <p:nvSpPr>
          <p:cNvPr id="26" name="Shape 22"/>
          <p:cNvSpPr/>
          <p:nvPr/>
        </p:nvSpPr>
        <p:spPr>
          <a:xfrm>
            <a:off x="8488375" y="1874520"/>
            <a:ext cx="640080" cy="640080"/>
          </a:xfrm>
          <a:prstGeom prst="ellipse">
            <a:avLst/>
          </a:prstGeom>
          <a:solidFill>
            <a:srgbClr val="00B8D9"/>
          </a:solidFill>
          <a:ln w="6350">
            <a:solidFill>
              <a:srgbClr val="00B8D9"/>
            </a:solidFill>
            <a:prstDash val="solid"/>
          </a:ln>
        </p:spPr>
      </p:sp>
      <p:pic>
        <p:nvPicPr>
          <p:cNvPr id="27" name="Image 2" descr="preencoded.png"/>
          <p:cNvPicPr>
            <a:picLocks noChangeAspect="1"/>
          </p:cNvPicPr>
          <p:nvPr/>
        </p:nvPicPr>
        <p:blipFill>
          <a:blip r:embed="rId5"/>
          <a:stretch>
            <a:fillRect/>
          </a:stretch>
        </p:blipFill>
        <p:spPr>
          <a:xfrm>
            <a:off x="8648395" y="2034540"/>
            <a:ext cx="320040" cy="320040"/>
          </a:xfrm>
          <a:prstGeom prst="rect">
            <a:avLst/>
          </a:prstGeom>
        </p:spPr>
      </p:pic>
      <p:sp>
        <p:nvSpPr>
          <p:cNvPr id="28" name="Text 23"/>
          <p:cNvSpPr txBox="1"/>
          <p:nvPr/>
        </p:nvSpPr>
        <p:spPr>
          <a:xfrm>
            <a:off x="9265615" y="1874520"/>
            <a:ext cx="2240280" cy="6400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User Confusion</a:t>
            </a:r>
            <a:endParaRPr lang="en-US" sz="2000" dirty="0"/>
          </a:p>
        </p:txBody>
      </p:sp>
      <p:sp>
        <p:nvSpPr>
          <p:cNvPr id="29" name="Text 24"/>
          <p:cNvSpPr txBox="1"/>
          <p:nvPr/>
        </p:nvSpPr>
        <p:spPr>
          <a:xfrm>
            <a:off x="8488375" y="2788920"/>
            <a:ext cx="2926080" cy="13258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What do these ingredients mean?</a:t>
            </a:r>
            <a:endParaRPr lang="en-US" sz="1400" dirty="0"/>
          </a:p>
          <a:p>
            <a:pPr marL="177800" indent="-1778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What does each one do, and why is it there?</a:t>
            </a:r>
            <a:endParaRPr lang="en-US" sz="1400" dirty="0"/>
          </a:p>
          <a:p>
            <a:pPr marL="177800" indent="-1778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Looking up each one separately is slow</a:t>
            </a:r>
            <a:endParaRPr lang="en-US" sz="1400" dirty="0"/>
          </a:p>
        </p:txBody>
      </p:sp>
      <p:pic>
        <p:nvPicPr>
          <p:cNvPr id="30" name="Image 3" descr="preencoded.png"/>
          <p:cNvPicPr>
            <a:picLocks noChangeAspect="1"/>
          </p:cNvPicPr>
          <p:nvPr/>
        </p:nvPicPr>
        <p:blipFill>
          <a:blip r:embed="rId6"/>
          <a:stretch>
            <a:fillRect/>
          </a:stretch>
        </p:blipFill>
        <p:spPr>
          <a:xfrm>
            <a:off x="4033190" y="2779776"/>
            <a:ext cx="292608" cy="292608"/>
          </a:xfrm>
          <a:prstGeom prst="rect">
            <a:avLst/>
          </a:prstGeom>
        </p:spPr>
      </p:pic>
      <p:pic>
        <p:nvPicPr>
          <p:cNvPr id="31" name="Image 4" descr="preencoded.png"/>
          <p:cNvPicPr>
            <a:picLocks noChangeAspect="1"/>
          </p:cNvPicPr>
          <p:nvPr/>
        </p:nvPicPr>
        <p:blipFill>
          <a:blip r:embed="rId6"/>
          <a:stretch>
            <a:fillRect/>
          </a:stretch>
        </p:blipFill>
        <p:spPr>
          <a:xfrm>
            <a:off x="7865897" y="2779776"/>
            <a:ext cx="292608" cy="292608"/>
          </a:xfrm>
          <a:prstGeom prst="rect">
            <a:avLst/>
          </a:prstGeom>
        </p:spPr>
      </p:pic>
      <p:sp>
        <p:nvSpPr>
          <p:cNvPr id="32" name="Text 25"/>
          <p:cNvSpPr txBox="1"/>
          <p:nvPr/>
        </p:nvSpPr>
        <p:spPr>
          <a:xfrm>
            <a:off x="548640" y="4434840"/>
            <a:ext cx="11094415" cy="320040"/>
          </a:xfrm>
          <a:prstGeom prst="rect">
            <a:avLst/>
          </a:prstGeom>
          <a:noFill/>
          <a:ln/>
        </p:spPr>
        <p:txBody>
          <a:bodyPr wrap="square" lIns="0" tIns="0" rIns="0" bIns="0" rtlCol="0" anchor="ctr"/>
          <a:lstStyle/>
          <a:p>
            <a:pPr marL="0" indent="0">
              <a:buNone/>
            </a:pPr>
            <a:r>
              <a:rPr lang="en-US" sz="1500" b="1" dirty="0">
                <a:solidFill>
                  <a:srgbClr val="0B1F3F"/>
                </a:solidFill>
                <a:latin typeface="Calibri" pitchFamily="34" charset="0"/>
                <a:ea typeface="Calibri" pitchFamily="34" charset="-122"/>
                <a:cs typeface="Calibri" pitchFamily="34" charset="-120"/>
              </a:rPr>
              <a:t>Today:  </a:t>
            </a:r>
            <a:r>
              <a:rPr lang="en-US" sz="1500" dirty="0">
                <a:solidFill>
                  <a:srgbClr val="5B6B82"/>
                </a:solidFill>
                <a:latin typeface="Calibri" pitchFamily="34" charset="0"/>
                <a:ea typeface="Calibri" pitchFamily="34" charset="-122"/>
                <a:cs typeface="Calibri" pitchFamily="34" charset="-120"/>
              </a:rPr>
              <a:t>users search the medicine name manually, then interpret the information ingredient by ingredient.</a:t>
            </a:r>
            <a:endParaRPr lang="en-US" sz="1500" dirty="0"/>
          </a:p>
        </p:txBody>
      </p:sp>
      <p:sp>
        <p:nvSpPr>
          <p:cNvPr id="33" name="Shape 26"/>
          <p:cNvSpPr/>
          <p:nvPr/>
        </p:nvSpPr>
        <p:spPr>
          <a:xfrm>
            <a:off x="548640" y="4937760"/>
            <a:ext cx="11094415" cy="1371600"/>
          </a:xfrm>
          <a:prstGeom prst="roundRect">
            <a:avLst>
              <a:gd name="adj" fmla="val 10000"/>
            </a:avLst>
          </a:prstGeom>
          <a:solidFill>
            <a:srgbClr val="0B1F3F"/>
          </a:solidFill>
          <a:ln w="6350">
            <a:solidFill>
              <a:srgbClr val="0B1F3F"/>
            </a:solidFill>
            <a:prstDash val="solid"/>
          </a:ln>
        </p:spPr>
      </p:sp>
      <p:sp>
        <p:nvSpPr>
          <p:cNvPr id="34" name="Text 27"/>
          <p:cNvSpPr txBox="1"/>
          <p:nvPr/>
        </p:nvSpPr>
        <p:spPr>
          <a:xfrm>
            <a:off x="914400" y="5120640"/>
            <a:ext cx="5486400" cy="228600"/>
          </a:xfrm>
          <a:prstGeom prst="rect">
            <a:avLst/>
          </a:prstGeom>
          <a:noFill/>
          <a:ln/>
        </p:spPr>
        <p:txBody>
          <a:bodyPr wrap="square" lIns="0" tIns="0" rIns="0" bIns="0" rtlCol="0" anchor="ctr"/>
          <a:lstStyle/>
          <a:p>
            <a:pPr marL="0" indent="0">
              <a:buNone/>
            </a:pPr>
            <a:r>
              <a:rPr lang="en-US" sz="1100" b="1" kern="0" spc="300" dirty="0">
                <a:solidFill>
                  <a:srgbClr val="00B8D9"/>
                </a:solidFill>
                <a:latin typeface="Calibri" pitchFamily="34" charset="0"/>
                <a:ea typeface="Calibri" pitchFamily="34" charset="-122"/>
                <a:cs typeface="Calibri" pitchFamily="34" charset="-120"/>
              </a:rPr>
              <a:t>THE PROBLEM STATEMENT</a:t>
            </a:r>
            <a:endParaRPr lang="en-US" sz="1100" dirty="0"/>
          </a:p>
        </p:txBody>
      </p:sp>
      <p:sp>
        <p:nvSpPr>
          <p:cNvPr id="35" name="Text 28"/>
          <p:cNvSpPr txBox="1"/>
          <p:nvPr/>
        </p:nvSpPr>
        <p:spPr>
          <a:xfrm>
            <a:off x="914400" y="5440680"/>
            <a:ext cx="10362895" cy="731520"/>
          </a:xfrm>
          <a:prstGeom prst="rect">
            <a:avLst/>
          </a:prstGeom>
          <a:noFill/>
          <a:ln/>
        </p:spPr>
        <p:txBody>
          <a:bodyPr wrap="square" lIns="0" tIns="0" rIns="0" bIns="0" rtlCol="0" anchor="t"/>
          <a:lstStyle/>
          <a:p>
            <a:pPr marL="0" indent="0">
              <a:buNone/>
            </a:pPr>
            <a:r>
              <a:rPr lang="en-US" sz="2400" b="1" dirty="0">
                <a:solidFill>
                  <a:srgbClr val="FFFFFF"/>
                </a:solidFill>
                <a:latin typeface="Calibri" pitchFamily="34" charset="0"/>
                <a:ea typeface="Calibri" pitchFamily="34" charset="-122"/>
                <a:cs typeface="Calibri" pitchFamily="34" charset="-120"/>
              </a:rPr>
              <a:t>“How can we turn a complex medicine label into clear, structured, and understandable information with minimal user effort?”</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marL="0" indent="0">
              <a:buNone/>
            </a:pPr>
            <a:r>
              <a:rPr lang="en-US" sz="1200" b="1" kern="0" spc="400" dirty="0">
                <a:solidFill>
                  <a:srgbClr val="1565D8"/>
                </a:solidFill>
                <a:latin typeface="Calibri" pitchFamily="34" charset="0"/>
                <a:ea typeface="Calibri" pitchFamily="34" charset="-122"/>
                <a:cs typeface="Calibri" pitchFamily="34" charset="-120"/>
              </a:rPr>
              <a:t>02  ·  THE SOLUTION</a:t>
            </a:r>
            <a:endParaRPr lang="en-US" sz="1200" dirty="0"/>
          </a:p>
        </p:txBody>
      </p:sp>
      <p:sp>
        <p:nvSpPr>
          <p:cNvPr id="3" name="Text 1"/>
          <p:cNvSpPr txBox="1"/>
          <p:nvPr/>
        </p:nvSpPr>
        <p:spPr>
          <a:xfrm>
            <a:off x="548640" y="6473952"/>
            <a:ext cx="8229600" cy="22860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MedLens  ·  Informational tool — not a diagnosis or prescription</a:t>
            </a:r>
            <a:endParaRPr lang="en-US" sz="1000" dirty="0"/>
          </a:p>
        </p:txBody>
      </p:sp>
      <p:sp>
        <p:nvSpPr>
          <p:cNvPr id="4" name="Text 2"/>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2 / 5</a:t>
            </a:r>
            <a:endParaRPr lang="en-US" sz="1000" dirty="0"/>
          </a:p>
        </p:txBody>
      </p:sp>
      <p:sp>
        <p:nvSpPr>
          <p:cNvPr id="5" name="Text 3"/>
          <p:cNvSpPr txBox="1"/>
          <p:nvPr/>
        </p:nvSpPr>
        <p:spPr>
          <a:xfrm>
            <a:off x="548640" y="658368"/>
            <a:ext cx="11094415" cy="685800"/>
          </a:xfrm>
          <a:prstGeom prst="rect">
            <a:avLst/>
          </a:prstGeom>
          <a:noFill/>
          <a:ln/>
        </p:spPr>
        <p:txBody>
          <a:bodyPr wrap="square" lIns="0" tIns="0" rIns="0" bIns="0" rtlCol="0" anchor="ctr"/>
          <a:lstStyle/>
          <a:p>
            <a:pPr marL="0" indent="0">
              <a:buNone/>
            </a:pPr>
            <a:r>
              <a:rPr lang="en-US" sz="3800" b="1" dirty="0">
                <a:solidFill>
                  <a:srgbClr val="0B1F3F"/>
                </a:solidFill>
                <a:latin typeface="Calibri" pitchFamily="34" charset="0"/>
                <a:ea typeface="Calibri" pitchFamily="34" charset="-122"/>
                <a:cs typeface="Calibri" pitchFamily="34" charset="-120"/>
              </a:rPr>
              <a:t>MedLens</a:t>
            </a:r>
            <a:r>
              <a:rPr lang="en-US" sz="3800" b="1" dirty="0">
                <a:solidFill>
                  <a:srgbClr val="5B6B82"/>
                </a:solidFill>
                <a:latin typeface="Calibri" pitchFamily="34" charset="0"/>
                <a:ea typeface="Calibri" pitchFamily="34" charset="-122"/>
                <a:cs typeface="Calibri" pitchFamily="34" charset="-120"/>
              </a:rPr>
              <a:t>  —  </a:t>
            </a:r>
            <a:r>
              <a:rPr lang="en-US" sz="3800" b="1" dirty="0">
                <a:solidFill>
                  <a:srgbClr val="1565D8"/>
                </a:solidFill>
                <a:latin typeface="Calibri" pitchFamily="34" charset="0"/>
                <a:ea typeface="Calibri" pitchFamily="34" charset="-122"/>
                <a:cs typeface="Calibri" pitchFamily="34" charset="-120"/>
              </a:rPr>
              <a:t>Scan. Understand. Verify.</a:t>
            </a:r>
            <a:endParaRPr lang="en-US" sz="3800" dirty="0"/>
          </a:p>
        </p:txBody>
      </p:sp>
      <p:sp>
        <p:nvSpPr>
          <p:cNvPr id="6" name="Shape 4"/>
          <p:cNvSpPr/>
          <p:nvPr/>
        </p:nvSpPr>
        <p:spPr>
          <a:xfrm>
            <a:off x="1021058" y="1600200"/>
            <a:ext cx="640080" cy="640080"/>
          </a:xfrm>
          <a:prstGeom prst="ellipse">
            <a:avLst/>
          </a:prstGeom>
          <a:solidFill>
            <a:srgbClr val="0B1F3F"/>
          </a:solidFill>
          <a:ln w="6350">
            <a:solidFill>
              <a:srgbClr val="0B1F3F"/>
            </a:solidFill>
            <a:prstDash val="solid"/>
          </a:ln>
        </p:spPr>
      </p:sp>
      <p:pic>
        <p:nvPicPr>
          <p:cNvPr id="7" name="Image 0" descr="preencoded.png"/>
          <p:cNvPicPr>
            <a:picLocks noChangeAspect="1"/>
          </p:cNvPicPr>
          <p:nvPr/>
        </p:nvPicPr>
        <p:blipFill>
          <a:blip r:embed="rId3"/>
          <a:stretch>
            <a:fillRect/>
          </a:stretch>
        </p:blipFill>
        <p:spPr>
          <a:xfrm>
            <a:off x="1181078" y="1760220"/>
            <a:ext cx="320040" cy="320040"/>
          </a:xfrm>
          <a:prstGeom prst="rect">
            <a:avLst/>
          </a:prstGeom>
        </p:spPr>
      </p:pic>
      <p:sp>
        <p:nvSpPr>
          <p:cNvPr id="8" name="Text 5"/>
          <p:cNvSpPr txBox="1"/>
          <p:nvPr/>
        </p:nvSpPr>
        <p:spPr>
          <a:xfrm>
            <a:off x="594360" y="2331720"/>
            <a:ext cx="1493476" cy="457200"/>
          </a:xfrm>
          <a:prstGeom prst="rect">
            <a:avLst/>
          </a:prstGeom>
          <a:noFill/>
          <a:ln/>
        </p:spPr>
        <p:txBody>
          <a:bodyPr wrap="square" lIns="0" tIns="0" rIns="0" bIns="0" rtlCol="0" anchor="t"/>
          <a:lstStyle/>
          <a:p>
            <a:pPr marL="0" indent="0" algn="ctr">
              <a:buNone/>
            </a:pPr>
            <a:r>
              <a:rPr lang="en-US" sz="1200" b="1" dirty="0">
                <a:solidFill>
                  <a:srgbClr val="0B1F3F"/>
                </a:solidFill>
                <a:latin typeface="Calibri" pitchFamily="34" charset="0"/>
                <a:ea typeface="Calibri" pitchFamily="34" charset="-122"/>
                <a:cs typeface="Calibri" pitchFamily="34" charset="-120"/>
              </a:rPr>
              <a:t>Image / Scan</a:t>
            </a:r>
            <a:endParaRPr lang="en-US" sz="1200" dirty="0"/>
          </a:p>
        </p:txBody>
      </p:sp>
      <p:sp>
        <p:nvSpPr>
          <p:cNvPr id="9" name="Shape 6"/>
          <p:cNvSpPr/>
          <p:nvPr/>
        </p:nvSpPr>
        <p:spPr>
          <a:xfrm>
            <a:off x="1752578" y="1920240"/>
            <a:ext cx="761956" cy="0"/>
          </a:xfrm>
          <a:prstGeom prst="line">
            <a:avLst/>
          </a:prstGeom>
          <a:noFill/>
          <a:ln w="22225">
            <a:solidFill>
              <a:srgbClr val="1565D8"/>
            </a:solidFill>
            <a:prstDash val="solid"/>
            <a:tailEnd type="triangle"/>
          </a:ln>
        </p:spPr>
      </p:sp>
      <p:sp>
        <p:nvSpPr>
          <p:cNvPr id="10" name="Shape 7"/>
          <p:cNvSpPr/>
          <p:nvPr/>
        </p:nvSpPr>
        <p:spPr>
          <a:xfrm>
            <a:off x="2605975" y="1600200"/>
            <a:ext cx="640080" cy="640080"/>
          </a:xfrm>
          <a:prstGeom prst="ellipse">
            <a:avLst/>
          </a:prstGeom>
          <a:solidFill>
            <a:srgbClr val="0B1F3F"/>
          </a:solidFill>
          <a:ln w="6350">
            <a:solidFill>
              <a:srgbClr val="0B1F3F"/>
            </a:solidFill>
            <a:prstDash val="solid"/>
          </a:ln>
        </p:spPr>
      </p:sp>
      <p:pic>
        <p:nvPicPr>
          <p:cNvPr id="11" name="Image 1" descr="preencoded.png"/>
          <p:cNvPicPr>
            <a:picLocks noChangeAspect="1"/>
          </p:cNvPicPr>
          <p:nvPr/>
        </p:nvPicPr>
        <p:blipFill>
          <a:blip r:embed="rId4"/>
          <a:stretch>
            <a:fillRect/>
          </a:stretch>
        </p:blipFill>
        <p:spPr>
          <a:xfrm>
            <a:off x="2765995" y="1760220"/>
            <a:ext cx="320040" cy="320040"/>
          </a:xfrm>
          <a:prstGeom prst="rect">
            <a:avLst/>
          </a:prstGeom>
        </p:spPr>
      </p:pic>
      <p:sp>
        <p:nvSpPr>
          <p:cNvPr id="12" name="Text 8"/>
          <p:cNvSpPr txBox="1"/>
          <p:nvPr/>
        </p:nvSpPr>
        <p:spPr>
          <a:xfrm>
            <a:off x="2179276" y="2331720"/>
            <a:ext cx="1493476" cy="457200"/>
          </a:xfrm>
          <a:prstGeom prst="rect">
            <a:avLst/>
          </a:prstGeom>
          <a:noFill/>
          <a:ln/>
        </p:spPr>
        <p:txBody>
          <a:bodyPr wrap="square" lIns="0" tIns="0" rIns="0" bIns="0" rtlCol="0" anchor="t"/>
          <a:lstStyle/>
          <a:p>
            <a:pPr marL="0" indent="0" algn="ctr">
              <a:buNone/>
            </a:pPr>
            <a:r>
              <a:rPr lang="en-US" sz="1200" b="1" dirty="0">
                <a:solidFill>
                  <a:srgbClr val="0B1F3F"/>
                </a:solidFill>
                <a:latin typeface="Calibri" pitchFamily="34" charset="0"/>
                <a:ea typeface="Calibri" pitchFamily="34" charset="-122"/>
                <a:cs typeface="Calibri" pitchFamily="34" charset="-120"/>
              </a:rPr>
              <a:t>OCR / Vision</a:t>
            </a:r>
            <a:endParaRPr lang="en-US" sz="1200" dirty="0"/>
          </a:p>
        </p:txBody>
      </p:sp>
      <p:sp>
        <p:nvSpPr>
          <p:cNvPr id="13" name="Shape 9"/>
          <p:cNvSpPr/>
          <p:nvPr/>
        </p:nvSpPr>
        <p:spPr>
          <a:xfrm>
            <a:off x="3337495" y="1920240"/>
            <a:ext cx="761956" cy="0"/>
          </a:xfrm>
          <a:prstGeom prst="line">
            <a:avLst/>
          </a:prstGeom>
          <a:noFill/>
          <a:ln w="22225">
            <a:solidFill>
              <a:srgbClr val="1565D8"/>
            </a:solidFill>
            <a:prstDash val="solid"/>
            <a:tailEnd type="triangle"/>
          </a:ln>
        </p:spPr>
      </p:sp>
      <p:sp>
        <p:nvSpPr>
          <p:cNvPr id="14" name="Shape 10"/>
          <p:cNvSpPr/>
          <p:nvPr/>
        </p:nvSpPr>
        <p:spPr>
          <a:xfrm>
            <a:off x="4190891" y="1600200"/>
            <a:ext cx="640080" cy="640080"/>
          </a:xfrm>
          <a:prstGeom prst="ellipse">
            <a:avLst/>
          </a:prstGeom>
          <a:solidFill>
            <a:srgbClr val="0B1F3F"/>
          </a:solidFill>
          <a:ln w="6350">
            <a:solidFill>
              <a:srgbClr val="0B1F3F"/>
            </a:solidFill>
            <a:prstDash val="solid"/>
          </a:ln>
        </p:spPr>
      </p:sp>
      <p:pic>
        <p:nvPicPr>
          <p:cNvPr id="15" name="Image 2" descr="preencoded.png"/>
          <p:cNvPicPr>
            <a:picLocks noChangeAspect="1"/>
          </p:cNvPicPr>
          <p:nvPr/>
        </p:nvPicPr>
        <p:blipFill>
          <a:blip r:embed="rId5"/>
          <a:stretch>
            <a:fillRect/>
          </a:stretch>
        </p:blipFill>
        <p:spPr>
          <a:xfrm>
            <a:off x="4350911" y="1760220"/>
            <a:ext cx="320040" cy="320040"/>
          </a:xfrm>
          <a:prstGeom prst="rect">
            <a:avLst/>
          </a:prstGeom>
        </p:spPr>
      </p:pic>
      <p:sp>
        <p:nvSpPr>
          <p:cNvPr id="16" name="Text 11"/>
          <p:cNvSpPr txBox="1"/>
          <p:nvPr/>
        </p:nvSpPr>
        <p:spPr>
          <a:xfrm>
            <a:off x="3764193" y="2331720"/>
            <a:ext cx="1493476" cy="457200"/>
          </a:xfrm>
          <a:prstGeom prst="rect">
            <a:avLst/>
          </a:prstGeom>
          <a:noFill/>
          <a:ln/>
        </p:spPr>
        <p:txBody>
          <a:bodyPr wrap="square" lIns="0" tIns="0" rIns="0" bIns="0" rtlCol="0" anchor="t"/>
          <a:lstStyle/>
          <a:p>
            <a:pPr marL="0" indent="0" algn="ctr">
              <a:buNone/>
            </a:pPr>
            <a:r>
              <a:rPr lang="en-US" sz="1200" b="1" dirty="0">
                <a:solidFill>
                  <a:srgbClr val="0B1F3F"/>
                </a:solidFill>
                <a:latin typeface="Calibri" pitchFamily="34" charset="0"/>
                <a:ea typeface="Calibri" pitchFamily="34" charset="-122"/>
                <a:cs typeface="Calibri" pitchFamily="34" charset="-120"/>
              </a:rPr>
              <a:t>Ingredient Extraction</a:t>
            </a:r>
            <a:endParaRPr lang="en-US" sz="1200" dirty="0"/>
          </a:p>
        </p:txBody>
      </p:sp>
      <p:sp>
        <p:nvSpPr>
          <p:cNvPr id="17" name="Shape 12"/>
          <p:cNvSpPr/>
          <p:nvPr/>
        </p:nvSpPr>
        <p:spPr>
          <a:xfrm>
            <a:off x="4922411" y="1920240"/>
            <a:ext cx="761956" cy="0"/>
          </a:xfrm>
          <a:prstGeom prst="line">
            <a:avLst/>
          </a:prstGeom>
          <a:noFill/>
          <a:ln w="22225">
            <a:solidFill>
              <a:srgbClr val="1565D8"/>
            </a:solidFill>
            <a:prstDash val="solid"/>
            <a:tailEnd type="triangle"/>
          </a:ln>
        </p:spPr>
      </p:sp>
      <p:sp>
        <p:nvSpPr>
          <p:cNvPr id="18" name="Shape 13"/>
          <p:cNvSpPr/>
          <p:nvPr/>
        </p:nvSpPr>
        <p:spPr>
          <a:xfrm>
            <a:off x="5775808" y="1600200"/>
            <a:ext cx="640080" cy="640080"/>
          </a:xfrm>
          <a:prstGeom prst="ellipse">
            <a:avLst/>
          </a:prstGeom>
          <a:solidFill>
            <a:srgbClr val="0B1F3F"/>
          </a:solidFill>
          <a:ln w="6350">
            <a:solidFill>
              <a:srgbClr val="0B1F3F"/>
            </a:solidFill>
            <a:prstDash val="solid"/>
          </a:ln>
        </p:spPr>
      </p:sp>
      <p:pic>
        <p:nvPicPr>
          <p:cNvPr id="19" name="Image 3" descr="preencoded.png"/>
          <p:cNvPicPr>
            <a:picLocks noChangeAspect="1"/>
          </p:cNvPicPr>
          <p:nvPr/>
        </p:nvPicPr>
        <p:blipFill>
          <a:blip r:embed="rId6"/>
          <a:stretch>
            <a:fillRect/>
          </a:stretch>
        </p:blipFill>
        <p:spPr>
          <a:xfrm>
            <a:off x="5935828" y="1760220"/>
            <a:ext cx="320040" cy="320040"/>
          </a:xfrm>
          <a:prstGeom prst="rect">
            <a:avLst/>
          </a:prstGeom>
        </p:spPr>
      </p:pic>
      <p:sp>
        <p:nvSpPr>
          <p:cNvPr id="20" name="Text 14"/>
          <p:cNvSpPr txBox="1"/>
          <p:nvPr/>
        </p:nvSpPr>
        <p:spPr>
          <a:xfrm>
            <a:off x="5349109" y="2331720"/>
            <a:ext cx="1493476" cy="457200"/>
          </a:xfrm>
          <a:prstGeom prst="rect">
            <a:avLst/>
          </a:prstGeom>
          <a:noFill/>
          <a:ln/>
        </p:spPr>
        <p:txBody>
          <a:bodyPr wrap="square" lIns="0" tIns="0" rIns="0" bIns="0" rtlCol="0" anchor="t"/>
          <a:lstStyle/>
          <a:p>
            <a:pPr marL="0" indent="0" algn="ctr">
              <a:buNone/>
            </a:pPr>
            <a:r>
              <a:rPr lang="en-US" sz="1200" b="1" dirty="0">
                <a:solidFill>
                  <a:srgbClr val="0B1F3F"/>
                </a:solidFill>
                <a:latin typeface="Calibri" pitchFamily="34" charset="0"/>
                <a:ea typeface="Calibri" pitchFamily="34" charset="-122"/>
                <a:cs typeface="Calibri" pitchFamily="34" charset="-120"/>
              </a:rPr>
              <a:t>Normalization</a:t>
            </a:r>
            <a:endParaRPr lang="en-US" sz="1200" dirty="0"/>
          </a:p>
        </p:txBody>
      </p:sp>
      <p:sp>
        <p:nvSpPr>
          <p:cNvPr id="21" name="Shape 15"/>
          <p:cNvSpPr/>
          <p:nvPr/>
        </p:nvSpPr>
        <p:spPr>
          <a:xfrm>
            <a:off x="6507328" y="1920240"/>
            <a:ext cx="761956" cy="0"/>
          </a:xfrm>
          <a:prstGeom prst="line">
            <a:avLst/>
          </a:prstGeom>
          <a:noFill/>
          <a:ln w="22225">
            <a:solidFill>
              <a:srgbClr val="1565D8"/>
            </a:solidFill>
            <a:prstDash val="solid"/>
            <a:tailEnd type="triangle"/>
          </a:ln>
        </p:spPr>
      </p:sp>
      <p:sp>
        <p:nvSpPr>
          <p:cNvPr id="22" name="Shape 16"/>
          <p:cNvSpPr/>
          <p:nvPr/>
        </p:nvSpPr>
        <p:spPr>
          <a:xfrm>
            <a:off x="7360724" y="1600200"/>
            <a:ext cx="640080" cy="640080"/>
          </a:xfrm>
          <a:prstGeom prst="ellipse">
            <a:avLst/>
          </a:prstGeom>
          <a:solidFill>
            <a:srgbClr val="0B1F3F"/>
          </a:solidFill>
          <a:ln w="6350">
            <a:solidFill>
              <a:srgbClr val="0B1F3F"/>
            </a:solidFill>
            <a:prstDash val="solid"/>
          </a:ln>
        </p:spPr>
      </p:sp>
      <p:pic>
        <p:nvPicPr>
          <p:cNvPr id="23" name="Image 4" descr="preencoded.png"/>
          <p:cNvPicPr>
            <a:picLocks noChangeAspect="1"/>
          </p:cNvPicPr>
          <p:nvPr/>
        </p:nvPicPr>
        <p:blipFill>
          <a:blip r:embed="rId7"/>
          <a:stretch>
            <a:fillRect/>
          </a:stretch>
        </p:blipFill>
        <p:spPr>
          <a:xfrm>
            <a:off x="7520744" y="1760220"/>
            <a:ext cx="320040" cy="320040"/>
          </a:xfrm>
          <a:prstGeom prst="rect">
            <a:avLst/>
          </a:prstGeom>
        </p:spPr>
      </p:pic>
      <p:sp>
        <p:nvSpPr>
          <p:cNvPr id="24" name="Text 17"/>
          <p:cNvSpPr txBox="1"/>
          <p:nvPr/>
        </p:nvSpPr>
        <p:spPr>
          <a:xfrm>
            <a:off x="6934026" y="2331720"/>
            <a:ext cx="1493476" cy="457200"/>
          </a:xfrm>
          <a:prstGeom prst="rect">
            <a:avLst/>
          </a:prstGeom>
          <a:noFill/>
          <a:ln/>
        </p:spPr>
        <p:txBody>
          <a:bodyPr wrap="square" lIns="0" tIns="0" rIns="0" bIns="0" rtlCol="0" anchor="t"/>
          <a:lstStyle/>
          <a:p>
            <a:pPr marL="0" indent="0" algn="ctr">
              <a:buNone/>
            </a:pPr>
            <a:r>
              <a:rPr lang="en-US" sz="1200" b="1" dirty="0">
                <a:solidFill>
                  <a:srgbClr val="0B1F3F"/>
                </a:solidFill>
                <a:latin typeface="Calibri" pitchFamily="34" charset="0"/>
                <a:ea typeface="Calibri" pitchFamily="34" charset="-122"/>
                <a:cs typeface="Calibri" pitchFamily="34" charset="-120"/>
              </a:rPr>
              <a:t>Verification</a:t>
            </a:r>
            <a:endParaRPr lang="en-US" sz="1200" dirty="0"/>
          </a:p>
        </p:txBody>
      </p:sp>
      <p:sp>
        <p:nvSpPr>
          <p:cNvPr id="25" name="Shape 18"/>
          <p:cNvSpPr/>
          <p:nvPr/>
        </p:nvSpPr>
        <p:spPr>
          <a:xfrm>
            <a:off x="8092244" y="1920240"/>
            <a:ext cx="761956" cy="0"/>
          </a:xfrm>
          <a:prstGeom prst="line">
            <a:avLst/>
          </a:prstGeom>
          <a:noFill/>
          <a:ln w="22225">
            <a:solidFill>
              <a:srgbClr val="1565D8"/>
            </a:solidFill>
            <a:prstDash val="solid"/>
            <a:tailEnd type="triangle"/>
          </a:ln>
        </p:spPr>
      </p:sp>
      <p:sp>
        <p:nvSpPr>
          <p:cNvPr id="26" name="Shape 19"/>
          <p:cNvSpPr/>
          <p:nvPr/>
        </p:nvSpPr>
        <p:spPr>
          <a:xfrm>
            <a:off x="8945641" y="1600200"/>
            <a:ext cx="640080" cy="640080"/>
          </a:xfrm>
          <a:prstGeom prst="ellipse">
            <a:avLst/>
          </a:prstGeom>
          <a:solidFill>
            <a:srgbClr val="0B1F3F"/>
          </a:solidFill>
          <a:ln w="6350">
            <a:solidFill>
              <a:srgbClr val="0B1F3F"/>
            </a:solidFill>
            <a:prstDash val="solid"/>
          </a:ln>
        </p:spPr>
      </p:sp>
      <p:pic>
        <p:nvPicPr>
          <p:cNvPr id="27" name="Image 5" descr="preencoded.png"/>
          <p:cNvPicPr>
            <a:picLocks noChangeAspect="1"/>
          </p:cNvPicPr>
          <p:nvPr/>
        </p:nvPicPr>
        <p:blipFill>
          <a:blip r:embed="rId8"/>
          <a:stretch>
            <a:fillRect/>
          </a:stretch>
        </p:blipFill>
        <p:spPr>
          <a:xfrm>
            <a:off x="9105661" y="1760220"/>
            <a:ext cx="320040" cy="320040"/>
          </a:xfrm>
          <a:prstGeom prst="rect">
            <a:avLst/>
          </a:prstGeom>
        </p:spPr>
      </p:pic>
      <p:sp>
        <p:nvSpPr>
          <p:cNvPr id="28" name="Text 20"/>
          <p:cNvSpPr txBox="1"/>
          <p:nvPr/>
        </p:nvSpPr>
        <p:spPr>
          <a:xfrm>
            <a:off x="8518942" y="2331720"/>
            <a:ext cx="1493476" cy="457200"/>
          </a:xfrm>
          <a:prstGeom prst="rect">
            <a:avLst/>
          </a:prstGeom>
          <a:noFill/>
          <a:ln/>
        </p:spPr>
        <p:txBody>
          <a:bodyPr wrap="square" lIns="0" tIns="0" rIns="0" bIns="0" rtlCol="0" anchor="t"/>
          <a:lstStyle/>
          <a:p>
            <a:pPr marL="0" indent="0" algn="ctr">
              <a:buNone/>
            </a:pPr>
            <a:r>
              <a:rPr lang="en-US" sz="1200" b="1" dirty="0">
                <a:solidFill>
                  <a:srgbClr val="0B1F3F"/>
                </a:solidFill>
                <a:latin typeface="Calibri" pitchFamily="34" charset="0"/>
                <a:ea typeface="Calibri" pitchFamily="34" charset="-122"/>
                <a:cs typeface="Calibri" pitchFamily="34" charset="-120"/>
              </a:rPr>
              <a:t>AI Analysis</a:t>
            </a:r>
            <a:endParaRPr lang="en-US" sz="1200" dirty="0"/>
          </a:p>
        </p:txBody>
      </p:sp>
      <p:sp>
        <p:nvSpPr>
          <p:cNvPr id="29" name="Shape 21"/>
          <p:cNvSpPr/>
          <p:nvPr/>
        </p:nvSpPr>
        <p:spPr>
          <a:xfrm>
            <a:off x="9677161" y="1920240"/>
            <a:ext cx="761956" cy="0"/>
          </a:xfrm>
          <a:prstGeom prst="line">
            <a:avLst/>
          </a:prstGeom>
          <a:noFill/>
          <a:ln w="22225">
            <a:solidFill>
              <a:srgbClr val="1565D8"/>
            </a:solidFill>
            <a:prstDash val="solid"/>
            <a:tailEnd type="triangle"/>
          </a:ln>
        </p:spPr>
      </p:sp>
      <p:sp>
        <p:nvSpPr>
          <p:cNvPr id="30" name="Shape 22"/>
          <p:cNvSpPr/>
          <p:nvPr/>
        </p:nvSpPr>
        <p:spPr>
          <a:xfrm>
            <a:off x="10530557" y="1600200"/>
            <a:ext cx="640080" cy="640080"/>
          </a:xfrm>
          <a:prstGeom prst="ellipse">
            <a:avLst/>
          </a:prstGeom>
          <a:solidFill>
            <a:srgbClr val="00B8D9"/>
          </a:solidFill>
          <a:ln w="6350">
            <a:solidFill>
              <a:srgbClr val="00B8D9"/>
            </a:solidFill>
            <a:prstDash val="solid"/>
          </a:ln>
        </p:spPr>
      </p:sp>
      <p:pic>
        <p:nvPicPr>
          <p:cNvPr id="31" name="Image 6" descr="preencoded.png"/>
          <p:cNvPicPr>
            <a:picLocks noChangeAspect="1"/>
          </p:cNvPicPr>
          <p:nvPr/>
        </p:nvPicPr>
        <p:blipFill>
          <a:blip r:embed="rId9"/>
          <a:stretch>
            <a:fillRect/>
          </a:stretch>
        </p:blipFill>
        <p:spPr>
          <a:xfrm>
            <a:off x="10690577" y="1760220"/>
            <a:ext cx="320040" cy="320040"/>
          </a:xfrm>
          <a:prstGeom prst="rect">
            <a:avLst/>
          </a:prstGeom>
        </p:spPr>
      </p:pic>
      <p:sp>
        <p:nvSpPr>
          <p:cNvPr id="32" name="Text 23"/>
          <p:cNvSpPr txBox="1"/>
          <p:nvPr/>
        </p:nvSpPr>
        <p:spPr>
          <a:xfrm>
            <a:off x="10103859" y="2331720"/>
            <a:ext cx="1493476" cy="457200"/>
          </a:xfrm>
          <a:prstGeom prst="rect">
            <a:avLst/>
          </a:prstGeom>
          <a:noFill/>
          <a:ln/>
        </p:spPr>
        <p:txBody>
          <a:bodyPr wrap="square" lIns="0" tIns="0" rIns="0" bIns="0" rtlCol="0" anchor="t"/>
          <a:lstStyle/>
          <a:p>
            <a:pPr marL="0" indent="0" algn="ctr">
              <a:buNone/>
            </a:pPr>
            <a:r>
              <a:rPr lang="en-US" sz="1200" b="1" dirty="0">
                <a:solidFill>
                  <a:srgbClr val="0B1F3F"/>
                </a:solidFill>
                <a:latin typeface="Calibri" pitchFamily="34" charset="0"/>
                <a:ea typeface="Calibri" pitchFamily="34" charset="-122"/>
                <a:cs typeface="Calibri" pitchFamily="34" charset="-120"/>
              </a:rPr>
              <a:t>Structured Report</a:t>
            </a:r>
            <a:endParaRPr lang="en-US" sz="1200" dirty="0"/>
          </a:p>
        </p:txBody>
      </p:sp>
      <p:sp>
        <p:nvSpPr>
          <p:cNvPr id="33" name="Shape 24"/>
          <p:cNvSpPr/>
          <p:nvPr/>
        </p:nvSpPr>
        <p:spPr>
          <a:xfrm>
            <a:off x="548640" y="2926080"/>
            <a:ext cx="2072579" cy="2743200"/>
          </a:xfrm>
          <a:prstGeom prst="roundRect">
            <a:avLst>
              <a:gd name="adj" fmla="val 6618"/>
            </a:avLst>
          </a:prstGeom>
          <a:solidFill>
            <a:srgbClr val="EEF5FB"/>
          </a:solidFill>
          <a:ln w="6350">
            <a:solidFill>
              <a:srgbClr val="EEF5FB"/>
            </a:solidFill>
            <a:prstDash val="solid"/>
          </a:ln>
          <a:effectLst>
            <a:outerShdw blurRad="127000" dist="25400" dir="5400000" algn="bl" rotWithShape="0">
              <a:srgbClr val="0B1F3F">
                <a:alpha val="10000"/>
              </a:srgbClr>
            </a:outerShdw>
          </a:effectLst>
        </p:spPr>
      </p:sp>
      <p:sp>
        <p:nvSpPr>
          <p:cNvPr id="34" name="Shape 25"/>
          <p:cNvSpPr/>
          <p:nvPr/>
        </p:nvSpPr>
        <p:spPr>
          <a:xfrm>
            <a:off x="749808" y="3127248"/>
            <a:ext cx="384048" cy="384048"/>
          </a:xfrm>
          <a:prstGeom prst="ellipse">
            <a:avLst/>
          </a:prstGeom>
          <a:solidFill>
            <a:srgbClr val="1565D8"/>
          </a:solidFill>
          <a:ln w="6350">
            <a:solidFill>
              <a:srgbClr val="1565D8"/>
            </a:solidFill>
            <a:prstDash val="solid"/>
          </a:ln>
        </p:spPr>
      </p:sp>
      <p:sp>
        <p:nvSpPr>
          <p:cNvPr id="35" name="Text 26"/>
          <p:cNvSpPr txBox="1"/>
          <p:nvPr/>
        </p:nvSpPr>
        <p:spPr>
          <a:xfrm>
            <a:off x="749808" y="31272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6" name="Text 27"/>
          <p:cNvSpPr txBox="1"/>
          <p:nvPr/>
        </p:nvSpPr>
        <p:spPr>
          <a:xfrm>
            <a:off x="1225296" y="3127248"/>
            <a:ext cx="1304483" cy="384048"/>
          </a:xfrm>
          <a:prstGeom prst="rect">
            <a:avLst/>
          </a:prstGeom>
          <a:noFill/>
          <a:ln/>
        </p:spPr>
        <p:txBody>
          <a:bodyPr wrap="square" lIns="0" tIns="0" rIns="0" bIns="0" rtlCol="0" anchor="ctr"/>
          <a:lstStyle/>
          <a:p>
            <a:pPr marL="0" indent="0">
              <a:buNone/>
            </a:pPr>
            <a:r>
              <a:rPr lang="en-US" sz="1500" b="1" dirty="0">
                <a:solidFill>
                  <a:srgbClr val="0B1F3F"/>
                </a:solidFill>
                <a:latin typeface="Calibri" pitchFamily="34" charset="0"/>
                <a:ea typeface="Calibri" pitchFamily="34" charset="-122"/>
                <a:cs typeface="Calibri" pitchFamily="34" charset="-120"/>
              </a:rPr>
              <a:t>Scan / Upload</a:t>
            </a:r>
            <a:endParaRPr lang="en-US" sz="1500" dirty="0"/>
          </a:p>
        </p:txBody>
      </p:sp>
      <p:sp>
        <p:nvSpPr>
          <p:cNvPr id="37" name="Text 28"/>
          <p:cNvSpPr txBox="1"/>
          <p:nvPr/>
        </p:nvSpPr>
        <p:spPr>
          <a:xfrm>
            <a:off x="749808" y="3703320"/>
            <a:ext cx="1706819" cy="182880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Tablet strip</a:t>
            </a:r>
            <a:endParaRPr lang="en-US" sz="1200" dirty="0"/>
          </a:p>
          <a:p>
            <a:pPr marL="177800" indent="-1778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Medicine box</a:t>
            </a:r>
            <a:endParaRPr lang="en-US" sz="1200" dirty="0"/>
          </a:p>
          <a:p>
            <a:pPr marL="177800" indent="-1778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Tonic / syrup</a:t>
            </a:r>
            <a:endParaRPr lang="en-US" sz="1200" dirty="0"/>
          </a:p>
          <a:p>
            <a:pPr marL="177800" indent="-1778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Composition panel</a:t>
            </a:r>
            <a:endParaRPr lang="en-US" sz="1200" dirty="0"/>
          </a:p>
          <a:p>
            <a:pPr marL="177800" indent="-1778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Other product labels</a:t>
            </a:r>
            <a:endParaRPr lang="en-US" sz="1200" dirty="0"/>
          </a:p>
        </p:txBody>
      </p:sp>
      <p:sp>
        <p:nvSpPr>
          <p:cNvPr id="38" name="Shape 29"/>
          <p:cNvSpPr/>
          <p:nvPr/>
        </p:nvSpPr>
        <p:spPr>
          <a:xfrm>
            <a:off x="2804099" y="2926080"/>
            <a:ext cx="2072579" cy="2743200"/>
          </a:xfrm>
          <a:prstGeom prst="roundRect">
            <a:avLst>
              <a:gd name="adj" fmla="val 6618"/>
            </a:avLst>
          </a:prstGeom>
          <a:solidFill>
            <a:srgbClr val="EEF5FB"/>
          </a:solidFill>
          <a:ln w="6350">
            <a:solidFill>
              <a:srgbClr val="EEF5FB"/>
            </a:solidFill>
            <a:prstDash val="solid"/>
          </a:ln>
          <a:effectLst>
            <a:outerShdw blurRad="127000" dist="25400" dir="5400000" algn="bl" rotWithShape="0">
              <a:srgbClr val="0B1F3F">
                <a:alpha val="10000"/>
              </a:srgbClr>
            </a:outerShdw>
          </a:effectLst>
        </p:spPr>
      </p:sp>
      <p:sp>
        <p:nvSpPr>
          <p:cNvPr id="39" name="Shape 30"/>
          <p:cNvSpPr/>
          <p:nvPr/>
        </p:nvSpPr>
        <p:spPr>
          <a:xfrm>
            <a:off x="3005267" y="3127248"/>
            <a:ext cx="384048" cy="384048"/>
          </a:xfrm>
          <a:prstGeom prst="ellipse">
            <a:avLst/>
          </a:prstGeom>
          <a:solidFill>
            <a:srgbClr val="1565D8"/>
          </a:solidFill>
          <a:ln w="6350">
            <a:solidFill>
              <a:srgbClr val="1565D8"/>
            </a:solidFill>
            <a:prstDash val="solid"/>
          </a:ln>
        </p:spPr>
      </p:sp>
      <p:sp>
        <p:nvSpPr>
          <p:cNvPr id="40" name="Text 31"/>
          <p:cNvSpPr txBox="1"/>
          <p:nvPr/>
        </p:nvSpPr>
        <p:spPr>
          <a:xfrm>
            <a:off x="3005267" y="31272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1" name="Text 32"/>
          <p:cNvSpPr txBox="1"/>
          <p:nvPr/>
        </p:nvSpPr>
        <p:spPr>
          <a:xfrm>
            <a:off x="3480755" y="3127248"/>
            <a:ext cx="1304483" cy="384048"/>
          </a:xfrm>
          <a:prstGeom prst="rect">
            <a:avLst/>
          </a:prstGeom>
          <a:noFill/>
          <a:ln/>
        </p:spPr>
        <p:txBody>
          <a:bodyPr wrap="square" lIns="0" tIns="0" rIns="0" bIns="0" rtlCol="0" anchor="ctr"/>
          <a:lstStyle/>
          <a:p>
            <a:pPr marL="0" indent="0">
              <a:buNone/>
            </a:pPr>
            <a:r>
              <a:rPr lang="en-US" sz="1500" b="1" dirty="0">
                <a:solidFill>
                  <a:srgbClr val="0B1F3F"/>
                </a:solidFill>
                <a:latin typeface="Calibri" pitchFamily="34" charset="0"/>
                <a:ea typeface="Calibri" pitchFamily="34" charset="-122"/>
                <a:cs typeface="Calibri" pitchFamily="34" charset="-120"/>
              </a:rPr>
              <a:t>Extract</a:t>
            </a:r>
            <a:endParaRPr lang="en-US" sz="1500" dirty="0"/>
          </a:p>
        </p:txBody>
      </p:sp>
      <p:sp>
        <p:nvSpPr>
          <p:cNvPr id="42" name="Text 33"/>
          <p:cNvSpPr txBox="1"/>
          <p:nvPr/>
        </p:nvSpPr>
        <p:spPr>
          <a:xfrm>
            <a:off x="3005267" y="3703320"/>
            <a:ext cx="1706819" cy="182880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Medicine / product name</a:t>
            </a:r>
            <a:endParaRPr lang="en-US" sz="1200" dirty="0"/>
          </a:p>
          <a:p>
            <a:pPr marL="177800" indent="-1778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Ingredients</a:t>
            </a:r>
            <a:endParaRPr lang="en-US" sz="1200" dirty="0"/>
          </a:p>
          <a:p>
            <a:pPr marL="177800" indent="-1778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Strength / dosage</a:t>
            </a:r>
            <a:endParaRPr lang="en-US" sz="1200" dirty="0"/>
          </a:p>
          <a:p>
            <a:pPr marL="177800" indent="-1778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Other label information</a:t>
            </a:r>
            <a:endParaRPr lang="en-US" sz="1200" dirty="0"/>
          </a:p>
        </p:txBody>
      </p:sp>
      <p:sp>
        <p:nvSpPr>
          <p:cNvPr id="43" name="Shape 34"/>
          <p:cNvSpPr/>
          <p:nvPr/>
        </p:nvSpPr>
        <p:spPr>
          <a:xfrm>
            <a:off x="5059558" y="2926080"/>
            <a:ext cx="2072579" cy="2743200"/>
          </a:xfrm>
          <a:prstGeom prst="roundRect">
            <a:avLst>
              <a:gd name="adj" fmla="val 6618"/>
            </a:avLst>
          </a:prstGeom>
          <a:solidFill>
            <a:srgbClr val="EEF5FB"/>
          </a:solidFill>
          <a:ln w="6350">
            <a:solidFill>
              <a:srgbClr val="EEF5FB"/>
            </a:solidFill>
            <a:prstDash val="solid"/>
          </a:ln>
          <a:effectLst>
            <a:outerShdw blurRad="127000" dist="25400" dir="5400000" algn="bl" rotWithShape="0">
              <a:srgbClr val="0B1F3F">
                <a:alpha val="10000"/>
              </a:srgbClr>
            </a:outerShdw>
          </a:effectLst>
        </p:spPr>
      </p:sp>
      <p:sp>
        <p:nvSpPr>
          <p:cNvPr id="44" name="Shape 35"/>
          <p:cNvSpPr/>
          <p:nvPr/>
        </p:nvSpPr>
        <p:spPr>
          <a:xfrm>
            <a:off x="5260726" y="3127248"/>
            <a:ext cx="384048" cy="384048"/>
          </a:xfrm>
          <a:prstGeom prst="ellipse">
            <a:avLst/>
          </a:prstGeom>
          <a:solidFill>
            <a:srgbClr val="1565D8"/>
          </a:solidFill>
          <a:ln w="6350">
            <a:solidFill>
              <a:srgbClr val="1565D8"/>
            </a:solidFill>
            <a:prstDash val="solid"/>
          </a:ln>
        </p:spPr>
      </p:sp>
      <p:sp>
        <p:nvSpPr>
          <p:cNvPr id="45" name="Text 36"/>
          <p:cNvSpPr txBox="1"/>
          <p:nvPr/>
        </p:nvSpPr>
        <p:spPr>
          <a:xfrm>
            <a:off x="5260726" y="31272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6" name="Text 37"/>
          <p:cNvSpPr txBox="1"/>
          <p:nvPr/>
        </p:nvSpPr>
        <p:spPr>
          <a:xfrm>
            <a:off x="5736214" y="3127248"/>
            <a:ext cx="1304483" cy="384048"/>
          </a:xfrm>
          <a:prstGeom prst="rect">
            <a:avLst/>
          </a:prstGeom>
          <a:noFill/>
          <a:ln/>
        </p:spPr>
        <p:txBody>
          <a:bodyPr wrap="square" lIns="0" tIns="0" rIns="0" bIns="0" rtlCol="0" anchor="ctr"/>
          <a:lstStyle/>
          <a:p>
            <a:pPr marL="0" indent="0">
              <a:buNone/>
            </a:pPr>
            <a:r>
              <a:rPr lang="en-US" sz="1500" b="1" dirty="0">
                <a:solidFill>
                  <a:srgbClr val="0B1F3F"/>
                </a:solidFill>
                <a:latin typeface="Calibri" pitchFamily="34" charset="0"/>
                <a:ea typeface="Calibri" pitchFamily="34" charset="-122"/>
                <a:cs typeface="Calibri" pitchFamily="34" charset="-120"/>
              </a:rPr>
              <a:t>Identify &amp; Verify</a:t>
            </a:r>
            <a:endParaRPr lang="en-US" sz="1500" dirty="0"/>
          </a:p>
        </p:txBody>
      </p:sp>
      <p:sp>
        <p:nvSpPr>
          <p:cNvPr id="47" name="Text 38"/>
          <p:cNvSpPr txBox="1"/>
          <p:nvPr/>
        </p:nvSpPr>
        <p:spPr>
          <a:xfrm>
            <a:off x="5260726" y="3703320"/>
            <a:ext cx="1706819" cy="182880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Identify active ingredients</a:t>
            </a:r>
            <a:endParaRPr lang="en-US" sz="1200" dirty="0"/>
          </a:p>
          <a:p>
            <a:pPr marL="177800" indent="-1778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Normalize ingredient names</a:t>
            </a:r>
            <a:endParaRPr lang="en-US" sz="1200" dirty="0"/>
          </a:p>
          <a:p>
            <a:pPr marL="177800" indent="-1778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Cross-check trusted references</a:t>
            </a:r>
            <a:endParaRPr lang="en-US" sz="1200" dirty="0"/>
          </a:p>
          <a:p>
            <a:pPr marL="177800" indent="-1778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Flag uncertainty — never guess</a:t>
            </a:r>
            <a:endParaRPr lang="en-US" sz="1200" dirty="0"/>
          </a:p>
        </p:txBody>
      </p:sp>
      <p:sp>
        <p:nvSpPr>
          <p:cNvPr id="48" name="Shape 39"/>
          <p:cNvSpPr/>
          <p:nvPr/>
        </p:nvSpPr>
        <p:spPr>
          <a:xfrm>
            <a:off x="7315017" y="2926080"/>
            <a:ext cx="2072579" cy="2743200"/>
          </a:xfrm>
          <a:prstGeom prst="roundRect">
            <a:avLst>
              <a:gd name="adj" fmla="val 6618"/>
            </a:avLst>
          </a:prstGeom>
          <a:solidFill>
            <a:srgbClr val="EEF5FB"/>
          </a:solidFill>
          <a:ln w="6350">
            <a:solidFill>
              <a:srgbClr val="EEF5FB"/>
            </a:solidFill>
            <a:prstDash val="solid"/>
          </a:ln>
          <a:effectLst>
            <a:outerShdw blurRad="127000" dist="25400" dir="5400000" algn="bl" rotWithShape="0">
              <a:srgbClr val="0B1F3F">
                <a:alpha val="10000"/>
              </a:srgbClr>
            </a:outerShdw>
          </a:effectLst>
        </p:spPr>
      </p:sp>
      <p:sp>
        <p:nvSpPr>
          <p:cNvPr id="49" name="Shape 40"/>
          <p:cNvSpPr/>
          <p:nvPr/>
        </p:nvSpPr>
        <p:spPr>
          <a:xfrm>
            <a:off x="7516185" y="3127248"/>
            <a:ext cx="384048" cy="384048"/>
          </a:xfrm>
          <a:prstGeom prst="ellipse">
            <a:avLst/>
          </a:prstGeom>
          <a:solidFill>
            <a:srgbClr val="1565D8"/>
          </a:solidFill>
          <a:ln w="6350">
            <a:solidFill>
              <a:srgbClr val="1565D8"/>
            </a:solidFill>
            <a:prstDash val="solid"/>
          </a:ln>
        </p:spPr>
      </p:sp>
      <p:sp>
        <p:nvSpPr>
          <p:cNvPr id="50" name="Text 41"/>
          <p:cNvSpPr txBox="1"/>
          <p:nvPr/>
        </p:nvSpPr>
        <p:spPr>
          <a:xfrm>
            <a:off x="7516185" y="31272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51" name="Text 42"/>
          <p:cNvSpPr txBox="1"/>
          <p:nvPr/>
        </p:nvSpPr>
        <p:spPr>
          <a:xfrm>
            <a:off x="7991673" y="3127248"/>
            <a:ext cx="1304483" cy="384048"/>
          </a:xfrm>
          <a:prstGeom prst="rect">
            <a:avLst/>
          </a:prstGeom>
          <a:noFill/>
          <a:ln/>
        </p:spPr>
        <p:txBody>
          <a:bodyPr wrap="square" lIns="0" tIns="0" rIns="0" bIns="0" rtlCol="0" anchor="ctr"/>
          <a:lstStyle/>
          <a:p>
            <a:pPr marL="0" indent="0">
              <a:buNone/>
            </a:pPr>
            <a:r>
              <a:rPr lang="en-US" sz="1500" b="1" dirty="0">
                <a:solidFill>
                  <a:srgbClr val="0B1F3F"/>
                </a:solidFill>
                <a:latin typeface="Calibri" pitchFamily="34" charset="0"/>
                <a:ea typeface="Calibri" pitchFamily="34" charset="-122"/>
                <a:cs typeface="Calibri" pitchFamily="34" charset="-120"/>
              </a:rPr>
              <a:t>AI Analysis</a:t>
            </a:r>
            <a:endParaRPr lang="en-US" sz="1500" dirty="0"/>
          </a:p>
        </p:txBody>
      </p:sp>
      <p:sp>
        <p:nvSpPr>
          <p:cNvPr id="52" name="Text 43"/>
          <p:cNvSpPr txBox="1"/>
          <p:nvPr/>
        </p:nvSpPr>
        <p:spPr>
          <a:xfrm>
            <a:off x="7516185" y="3703320"/>
            <a:ext cx="1706819" cy="182880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What the product is</a:t>
            </a:r>
            <a:endParaRPr lang="en-US" sz="1200" dirty="0"/>
          </a:p>
          <a:p>
            <a:pPr marL="177800" indent="-1778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What each ingredient does &amp; why</a:t>
            </a:r>
            <a:endParaRPr lang="en-US" sz="1200" dirty="0"/>
          </a:p>
          <a:p>
            <a:pPr marL="177800" indent="-1778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Main therapeutic purpose</a:t>
            </a:r>
            <a:endParaRPr lang="en-US" sz="1200" dirty="0"/>
          </a:p>
          <a:p>
            <a:pPr marL="177800" indent="-1778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Precautions &amp; adverse effects</a:t>
            </a:r>
            <a:endParaRPr lang="en-US" sz="1200" dirty="0"/>
          </a:p>
          <a:p>
            <a:pPr marL="177800" indent="-177800">
              <a:spcAft>
                <a:spcPts val="400"/>
              </a:spcAft>
              <a:buSzPct val="100000"/>
              <a:buChar char="•"/>
            </a:pPr>
            <a:r>
              <a:rPr lang="en-US" sz="1200" dirty="0">
                <a:solidFill>
                  <a:srgbClr val="1B2A41"/>
                </a:solidFill>
                <a:latin typeface="Calibri" pitchFamily="34" charset="0"/>
                <a:ea typeface="Calibri" pitchFamily="34" charset="-122"/>
                <a:cs typeface="Calibri" pitchFamily="34" charset="-120"/>
              </a:rPr>
              <a:t>Prolonged / repeated use</a:t>
            </a:r>
            <a:endParaRPr lang="en-US" sz="1200" dirty="0"/>
          </a:p>
        </p:txBody>
      </p:sp>
      <p:sp>
        <p:nvSpPr>
          <p:cNvPr id="53" name="Shape 44"/>
          <p:cNvSpPr/>
          <p:nvPr/>
        </p:nvSpPr>
        <p:spPr>
          <a:xfrm>
            <a:off x="9570476" y="2926080"/>
            <a:ext cx="2072579" cy="2743200"/>
          </a:xfrm>
          <a:prstGeom prst="roundRect">
            <a:avLst>
              <a:gd name="adj" fmla="val 6618"/>
            </a:avLst>
          </a:prstGeom>
          <a:solidFill>
            <a:srgbClr val="0B1F3F"/>
          </a:solidFill>
          <a:ln w="6350">
            <a:solidFill>
              <a:srgbClr val="0B1F3F"/>
            </a:solidFill>
            <a:prstDash val="solid"/>
          </a:ln>
          <a:effectLst>
            <a:outerShdw blurRad="127000" dist="25400" dir="5400000" algn="bl" rotWithShape="0">
              <a:srgbClr val="0B1F3F">
                <a:alpha val="10000"/>
              </a:srgbClr>
            </a:outerShdw>
          </a:effectLst>
        </p:spPr>
      </p:sp>
      <p:sp>
        <p:nvSpPr>
          <p:cNvPr id="54" name="Shape 45"/>
          <p:cNvSpPr/>
          <p:nvPr/>
        </p:nvSpPr>
        <p:spPr>
          <a:xfrm>
            <a:off x="9771644" y="3127248"/>
            <a:ext cx="384048" cy="384048"/>
          </a:xfrm>
          <a:prstGeom prst="ellipse">
            <a:avLst/>
          </a:prstGeom>
          <a:solidFill>
            <a:srgbClr val="00B8D9"/>
          </a:solidFill>
          <a:ln w="6350">
            <a:solidFill>
              <a:srgbClr val="00B8D9"/>
            </a:solidFill>
            <a:prstDash val="solid"/>
          </a:ln>
        </p:spPr>
      </p:sp>
      <p:sp>
        <p:nvSpPr>
          <p:cNvPr id="55" name="Text 46"/>
          <p:cNvSpPr txBox="1"/>
          <p:nvPr/>
        </p:nvSpPr>
        <p:spPr>
          <a:xfrm>
            <a:off x="9771644" y="3127248"/>
            <a:ext cx="384048" cy="384048"/>
          </a:xfrm>
          <a:prstGeom prst="rect">
            <a:avLst/>
          </a:prstGeom>
          <a:noFill/>
          <a:ln/>
        </p:spPr>
        <p:txBody>
          <a:bodyPr wrap="square" lIns="0" tIns="0" rIns="0" bIns="0" rtlCol="0" anchor="ctr"/>
          <a:lstStyle/>
          <a:p>
            <a:pPr marL="0" indent="0" algn="ctr">
              <a:buNone/>
            </a:pPr>
            <a:r>
              <a:rPr lang="en-US" sz="1400" b="1" dirty="0">
                <a:solidFill>
                  <a:srgbClr val="0B1F3F"/>
                </a:solidFill>
                <a:latin typeface="Calibri" pitchFamily="34" charset="0"/>
                <a:ea typeface="Calibri" pitchFamily="34" charset="-122"/>
                <a:cs typeface="Calibri" pitchFamily="34" charset="-120"/>
              </a:rPr>
              <a:t>5</a:t>
            </a:r>
            <a:endParaRPr lang="en-US" sz="1400" dirty="0"/>
          </a:p>
        </p:txBody>
      </p:sp>
      <p:sp>
        <p:nvSpPr>
          <p:cNvPr id="56" name="Text 47"/>
          <p:cNvSpPr txBox="1"/>
          <p:nvPr/>
        </p:nvSpPr>
        <p:spPr>
          <a:xfrm>
            <a:off x="10247132" y="3127248"/>
            <a:ext cx="1304483"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Final Report</a:t>
            </a:r>
            <a:endParaRPr lang="en-US" sz="1500" dirty="0"/>
          </a:p>
        </p:txBody>
      </p:sp>
      <p:sp>
        <p:nvSpPr>
          <p:cNvPr id="57" name="Text 48"/>
          <p:cNvSpPr txBox="1"/>
          <p:nvPr/>
        </p:nvSpPr>
        <p:spPr>
          <a:xfrm>
            <a:off x="9771644" y="3703320"/>
            <a:ext cx="1706819" cy="182880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Clean, simple format</a:t>
            </a:r>
            <a:endParaRPr lang="en-US" sz="1200" dirty="0"/>
          </a:p>
          <a:p>
            <a:pPr marL="177800" indent="-1778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Ingredient-level cards</a:t>
            </a:r>
            <a:endParaRPr lang="en-US" sz="1200" dirty="0"/>
          </a:p>
          <a:p>
            <a:pPr marL="177800" indent="-1778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Confidence &amp; uncertainty</a:t>
            </a:r>
            <a:endParaRPr lang="en-US" sz="1200" dirty="0"/>
          </a:p>
          <a:p>
            <a:pPr marL="177800" indent="-1778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Sources &amp; safety note</a:t>
            </a:r>
            <a:endParaRPr lang="en-US" sz="1200" dirty="0"/>
          </a:p>
        </p:txBody>
      </p:sp>
      <p:sp>
        <p:nvSpPr>
          <p:cNvPr id="58" name="Shape 49"/>
          <p:cNvSpPr/>
          <p:nvPr/>
        </p:nvSpPr>
        <p:spPr>
          <a:xfrm>
            <a:off x="548640" y="5888736"/>
            <a:ext cx="11094415" cy="457200"/>
          </a:xfrm>
          <a:prstGeom prst="roundRect">
            <a:avLst>
              <a:gd name="adj" fmla="val 24000"/>
            </a:avLst>
          </a:prstGeom>
          <a:solidFill>
            <a:srgbClr val="1565D8"/>
          </a:solidFill>
          <a:ln w="6350">
            <a:solidFill>
              <a:srgbClr val="1565D8"/>
            </a:solidFill>
            <a:prstDash val="solid"/>
          </a:ln>
        </p:spPr>
      </p:sp>
      <p:sp>
        <p:nvSpPr>
          <p:cNvPr id="59" name="Text 50"/>
          <p:cNvSpPr txBox="1"/>
          <p:nvPr/>
        </p:nvSpPr>
        <p:spPr>
          <a:xfrm>
            <a:off x="548640" y="5888736"/>
            <a:ext cx="11094415"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 picture of a medicine becomes a structured and understandable explanation.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marL="0" indent="0">
              <a:buNone/>
            </a:pPr>
            <a:r>
              <a:rPr lang="en-US" sz="1200" b="1" kern="0" spc="400" dirty="0">
                <a:solidFill>
                  <a:srgbClr val="1565D8"/>
                </a:solidFill>
                <a:latin typeface="Calibri" pitchFamily="34" charset="0"/>
                <a:ea typeface="Calibri" pitchFamily="34" charset="-122"/>
                <a:cs typeface="Calibri" pitchFamily="34" charset="-120"/>
              </a:rPr>
              <a:t>03  ·  WHY MEDLENS?</a:t>
            </a:r>
            <a:endParaRPr lang="en-US" sz="1200" dirty="0"/>
          </a:p>
        </p:txBody>
      </p:sp>
      <p:sp>
        <p:nvSpPr>
          <p:cNvPr id="3" name="Text 1"/>
          <p:cNvSpPr txBox="1"/>
          <p:nvPr/>
        </p:nvSpPr>
        <p:spPr>
          <a:xfrm>
            <a:off x="548640" y="6473952"/>
            <a:ext cx="8229600" cy="22860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MedLens  ·  Informational tool — not a diagnosis or prescription</a:t>
            </a:r>
            <a:endParaRPr lang="en-US" sz="1000" dirty="0"/>
          </a:p>
        </p:txBody>
      </p:sp>
      <p:sp>
        <p:nvSpPr>
          <p:cNvPr id="4" name="Text 2"/>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3 / 5</a:t>
            </a:r>
            <a:endParaRPr lang="en-US" sz="1000" dirty="0"/>
          </a:p>
        </p:txBody>
      </p:sp>
      <p:sp>
        <p:nvSpPr>
          <p:cNvPr id="5" name="Text 3"/>
          <p:cNvSpPr txBox="1"/>
          <p:nvPr/>
        </p:nvSpPr>
        <p:spPr>
          <a:xfrm>
            <a:off x="548640" y="658368"/>
            <a:ext cx="11094415" cy="685800"/>
          </a:xfrm>
          <a:prstGeom prst="rect">
            <a:avLst/>
          </a:prstGeom>
          <a:noFill/>
          <a:ln/>
        </p:spPr>
        <p:txBody>
          <a:bodyPr wrap="square" lIns="0" tIns="0" rIns="0" bIns="0" rtlCol="0" anchor="ctr"/>
          <a:lstStyle/>
          <a:p>
            <a:pPr marL="0" indent="0">
              <a:buNone/>
            </a:pPr>
            <a:r>
              <a:rPr lang="en-US" sz="3400" b="1" dirty="0">
                <a:solidFill>
                  <a:srgbClr val="0B1F3F"/>
                </a:solidFill>
                <a:latin typeface="Calibri" pitchFamily="34" charset="0"/>
                <a:ea typeface="Calibri" pitchFamily="34" charset="-122"/>
                <a:cs typeface="Calibri" pitchFamily="34" charset="-120"/>
              </a:rPr>
              <a:t>Why use MedLens over GPT, Gemini, or Claude?</a:t>
            </a:r>
            <a:endParaRPr lang="en-US" sz="3400" dirty="0"/>
          </a:p>
        </p:txBody>
      </p:sp>
      <p:sp>
        <p:nvSpPr>
          <p:cNvPr id="6" name="Shape 4"/>
          <p:cNvSpPr/>
          <p:nvPr/>
        </p:nvSpPr>
        <p:spPr>
          <a:xfrm>
            <a:off x="2148840" y="1463040"/>
            <a:ext cx="4297680" cy="2834640"/>
          </a:xfrm>
          <a:prstGeom prst="roundRect">
            <a:avLst>
              <a:gd name="adj" fmla="val 4839"/>
            </a:avLst>
          </a:prstGeom>
          <a:solidFill>
            <a:srgbClr val="EEF5FB"/>
          </a:solidFill>
          <a:ln w="6350">
            <a:solidFill>
              <a:srgbClr val="EEF5FB"/>
            </a:solidFill>
            <a:prstDash val="solid"/>
          </a:ln>
          <a:effectLst>
            <a:outerShdw blurRad="127000" dist="25400" dir="5400000" algn="bl" rotWithShape="0">
              <a:srgbClr val="0B1F3F">
                <a:alpha val="10000"/>
              </a:srgbClr>
            </a:outerShdw>
          </a:effectLst>
        </p:spPr>
      </p:sp>
      <p:sp>
        <p:nvSpPr>
          <p:cNvPr id="7" name="Shape 5"/>
          <p:cNvSpPr/>
          <p:nvPr/>
        </p:nvSpPr>
        <p:spPr>
          <a:xfrm>
            <a:off x="6492240" y="1463040"/>
            <a:ext cx="5150815" cy="2834640"/>
          </a:xfrm>
          <a:prstGeom prst="roundRect">
            <a:avLst>
              <a:gd name="adj" fmla="val 4839"/>
            </a:avLst>
          </a:prstGeom>
          <a:solidFill>
            <a:srgbClr val="0B1F3F"/>
          </a:solidFill>
          <a:ln w="6350">
            <a:solidFill>
              <a:srgbClr val="0B1F3F"/>
            </a:solidFill>
            <a:prstDash val="solid"/>
          </a:ln>
          <a:effectLst>
            <a:outerShdw blurRad="127000" dist="25400" dir="5400000" algn="bl" rotWithShape="0">
              <a:srgbClr val="0B1F3F">
                <a:alpha val="10000"/>
              </a:srgbClr>
            </a:outerShdw>
          </a:effectLst>
        </p:spPr>
      </p:sp>
      <p:sp>
        <p:nvSpPr>
          <p:cNvPr id="8" name="Text 6"/>
          <p:cNvSpPr txBox="1"/>
          <p:nvPr/>
        </p:nvSpPr>
        <p:spPr>
          <a:xfrm>
            <a:off x="2286000" y="1508760"/>
            <a:ext cx="3931920" cy="457200"/>
          </a:xfrm>
          <a:prstGeom prst="rect">
            <a:avLst/>
          </a:prstGeom>
          <a:noFill/>
          <a:ln/>
        </p:spPr>
        <p:txBody>
          <a:bodyPr wrap="square" lIns="0" tIns="0" rIns="0" bIns="0" rtlCol="0" anchor="ctr"/>
          <a:lstStyle/>
          <a:p>
            <a:pPr marL="0" indent="0">
              <a:buNone/>
            </a:pPr>
            <a:r>
              <a:rPr lang="en-US" sz="1600" b="1" dirty="0">
                <a:solidFill>
                  <a:srgbClr val="0B1F3F"/>
                </a:solidFill>
                <a:latin typeface="Calibri" pitchFamily="34" charset="0"/>
                <a:ea typeface="Calibri" pitchFamily="34" charset="-122"/>
                <a:cs typeface="Calibri" pitchFamily="34" charset="-120"/>
              </a:rPr>
              <a:t>General AI</a:t>
            </a:r>
            <a:r>
              <a:rPr lang="en-US" sz="1200" dirty="0">
                <a:solidFill>
                  <a:srgbClr val="5B6B82"/>
                </a:solidFill>
                <a:latin typeface="Calibri" pitchFamily="34" charset="0"/>
                <a:ea typeface="Calibri" pitchFamily="34" charset="-122"/>
                <a:cs typeface="Calibri" pitchFamily="34" charset="-120"/>
              </a:rPr>
              <a:t>    GPT · Gemini · Claude</a:t>
            </a:r>
            <a:endParaRPr lang="en-US" sz="1600" dirty="0"/>
          </a:p>
        </p:txBody>
      </p:sp>
      <p:sp>
        <p:nvSpPr>
          <p:cNvPr id="9" name="Text 7"/>
          <p:cNvSpPr txBox="1"/>
          <p:nvPr/>
        </p:nvSpPr>
        <p:spPr>
          <a:xfrm>
            <a:off x="6720840" y="1508760"/>
            <a:ext cx="4785055"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MedLens</a:t>
            </a:r>
            <a:r>
              <a:rPr lang="en-US" sz="1200" dirty="0">
                <a:solidFill>
                  <a:srgbClr val="00B8D9"/>
                </a:solidFill>
                <a:latin typeface="Calibri" pitchFamily="34" charset="0"/>
                <a:ea typeface="Calibri" pitchFamily="34" charset="-122"/>
                <a:cs typeface="Calibri" pitchFamily="34" charset="-120"/>
              </a:rPr>
              <a:t>    purpose-built medicine-analysis pipeline</a:t>
            </a:r>
            <a:endParaRPr lang="en-US" sz="1800" dirty="0"/>
          </a:p>
        </p:txBody>
      </p:sp>
      <p:sp>
        <p:nvSpPr>
          <p:cNvPr id="10" name="Text 8"/>
          <p:cNvSpPr txBox="1"/>
          <p:nvPr/>
        </p:nvSpPr>
        <p:spPr>
          <a:xfrm>
            <a:off x="548640" y="1920240"/>
            <a:ext cx="1371600" cy="457200"/>
          </a:xfrm>
          <a:prstGeom prst="rect">
            <a:avLst/>
          </a:prstGeom>
          <a:noFill/>
          <a:ln/>
        </p:spPr>
        <p:txBody>
          <a:bodyPr wrap="square" lIns="0" tIns="0" rIns="0" bIns="0" rtlCol="0" anchor="ctr"/>
          <a:lstStyle/>
          <a:p>
            <a:pPr marL="0" indent="0">
              <a:buNone/>
            </a:pPr>
            <a:r>
              <a:rPr lang="en-US" sz="1200" b="1" kern="0" spc="200" dirty="0">
                <a:solidFill>
                  <a:srgbClr val="1565D8"/>
                </a:solidFill>
                <a:latin typeface="Calibri" pitchFamily="34" charset="0"/>
                <a:ea typeface="Calibri" pitchFamily="34" charset="-122"/>
                <a:cs typeface="Calibri" pitchFamily="34" charset="-120"/>
              </a:rPr>
              <a:t>DESIGN</a:t>
            </a:r>
            <a:endParaRPr lang="en-US" sz="1200" dirty="0"/>
          </a:p>
        </p:txBody>
      </p:sp>
      <p:sp>
        <p:nvSpPr>
          <p:cNvPr id="11" name="Text 9"/>
          <p:cNvSpPr txBox="1"/>
          <p:nvPr/>
        </p:nvSpPr>
        <p:spPr>
          <a:xfrm>
            <a:off x="2286000" y="1920240"/>
            <a:ext cx="3886200" cy="457200"/>
          </a:xfrm>
          <a:prstGeom prst="rect">
            <a:avLst/>
          </a:prstGeom>
          <a:noFill/>
          <a:ln/>
        </p:spPr>
        <p:txBody>
          <a:bodyPr wrap="square" lIns="0" tIns="0" rIns="0" bIns="0" rtlCol="0" anchor="ctr"/>
          <a:lstStyle/>
          <a:p>
            <a:pPr marL="0" indent="0">
              <a:buNone/>
            </a:pPr>
            <a:r>
              <a:rPr lang="en-US" sz="1300" dirty="0">
                <a:solidFill>
                  <a:srgbClr val="1B2A41"/>
                </a:solidFill>
                <a:latin typeface="Calibri" pitchFamily="34" charset="0"/>
                <a:ea typeface="Calibri" pitchFamily="34" charset="-122"/>
                <a:cs typeface="Calibri" pitchFamily="34" charset="-120"/>
              </a:rPr>
              <a:t>General-purpose AI</a:t>
            </a:r>
            <a:endParaRPr lang="en-US" sz="1300" dirty="0"/>
          </a:p>
        </p:txBody>
      </p:sp>
      <p:pic>
        <p:nvPicPr>
          <p:cNvPr id="12" name="Image 0" descr="preencoded.png"/>
          <p:cNvPicPr>
            <a:picLocks noChangeAspect="1"/>
          </p:cNvPicPr>
          <p:nvPr/>
        </p:nvPicPr>
        <p:blipFill>
          <a:blip r:embed="rId3"/>
          <a:stretch>
            <a:fillRect/>
          </a:stretch>
        </p:blipFill>
        <p:spPr>
          <a:xfrm>
            <a:off x="6720840" y="2029968"/>
            <a:ext cx="237744" cy="237744"/>
          </a:xfrm>
          <a:prstGeom prst="rect">
            <a:avLst/>
          </a:prstGeom>
        </p:spPr>
      </p:pic>
      <p:sp>
        <p:nvSpPr>
          <p:cNvPr id="13" name="Text 10"/>
          <p:cNvSpPr txBox="1"/>
          <p:nvPr/>
        </p:nvSpPr>
        <p:spPr>
          <a:xfrm>
            <a:off x="7086600" y="1920240"/>
            <a:ext cx="4373575"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Purpose-built</a:t>
            </a:r>
            <a:r>
              <a:rPr lang="en-US" sz="1400" dirty="0">
                <a:solidFill>
                  <a:srgbClr val="BFD9F2"/>
                </a:solidFill>
                <a:latin typeface="Calibri" pitchFamily="34" charset="0"/>
                <a:ea typeface="Calibri" pitchFamily="34" charset="-122"/>
                <a:cs typeface="Calibri" pitchFamily="34" charset="-120"/>
              </a:rPr>
              <a:t> for medicine-label analysis</a:t>
            </a:r>
            <a:endParaRPr lang="en-US" sz="1400" dirty="0"/>
          </a:p>
        </p:txBody>
      </p:sp>
      <p:sp>
        <p:nvSpPr>
          <p:cNvPr id="14" name="Text 11"/>
          <p:cNvSpPr txBox="1"/>
          <p:nvPr/>
        </p:nvSpPr>
        <p:spPr>
          <a:xfrm>
            <a:off x="548640" y="2377440"/>
            <a:ext cx="1371600" cy="457200"/>
          </a:xfrm>
          <a:prstGeom prst="rect">
            <a:avLst/>
          </a:prstGeom>
          <a:noFill/>
          <a:ln/>
        </p:spPr>
        <p:txBody>
          <a:bodyPr wrap="square" lIns="0" tIns="0" rIns="0" bIns="0" rtlCol="0" anchor="ctr"/>
          <a:lstStyle/>
          <a:p>
            <a:pPr marL="0" indent="0">
              <a:buNone/>
            </a:pPr>
            <a:r>
              <a:rPr lang="en-US" sz="1200" b="1" kern="0" spc="200" dirty="0">
                <a:solidFill>
                  <a:srgbClr val="1565D8"/>
                </a:solidFill>
                <a:latin typeface="Calibri" pitchFamily="34" charset="0"/>
                <a:ea typeface="Calibri" pitchFamily="34" charset="-122"/>
                <a:cs typeface="Calibri" pitchFamily="34" charset="-120"/>
              </a:rPr>
              <a:t>INPUT</a:t>
            </a:r>
            <a:endParaRPr lang="en-US" sz="1200" dirty="0"/>
          </a:p>
        </p:txBody>
      </p:sp>
      <p:sp>
        <p:nvSpPr>
          <p:cNvPr id="15" name="Text 12"/>
          <p:cNvSpPr txBox="1"/>
          <p:nvPr/>
        </p:nvSpPr>
        <p:spPr>
          <a:xfrm>
            <a:off x="2286000" y="2377440"/>
            <a:ext cx="3886200" cy="457200"/>
          </a:xfrm>
          <a:prstGeom prst="rect">
            <a:avLst/>
          </a:prstGeom>
          <a:noFill/>
          <a:ln/>
        </p:spPr>
        <p:txBody>
          <a:bodyPr wrap="square" lIns="0" tIns="0" rIns="0" bIns="0" rtlCol="0" anchor="ctr"/>
          <a:lstStyle/>
          <a:p>
            <a:pPr marL="0" indent="0">
              <a:buNone/>
            </a:pPr>
            <a:r>
              <a:rPr lang="en-US" sz="1300" dirty="0">
                <a:solidFill>
                  <a:srgbClr val="1B2A41"/>
                </a:solidFill>
                <a:latin typeface="Calibri" pitchFamily="34" charset="0"/>
                <a:ea typeface="Calibri" pitchFamily="34" charset="-122"/>
                <a:cs typeface="Calibri" pitchFamily="34" charset="-120"/>
              </a:rPr>
              <a:t>User has to ask the right questions</a:t>
            </a:r>
            <a:endParaRPr lang="en-US" sz="1300" dirty="0"/>
          </a:p>
        </p:txBody>
      </p:sp>
      <p:pic>
        <p:nvPicPr>
          <p:cNvPr id="16" name="Image 1" descr="preencoded.png"/>
          <p:cNvPicPr>
            <a:picLocks noChangeAspect="1"/>
          </p:cNvPicPr>
          <p:nvPr/>
        </p:nvPicPr>
        <p:blipFill>
          <a:blip r:embed="rId3"/>
          <a:stretch>
            <a:fillRect/>
          </a:stretch>
        </p:blipFill>
        <p:spPr>
          <a:xfrm>
            <a:off x="6720840" y="2487168"/>
            <a:ext cx="237744" cy="237744"/>
          </a:xfrm>
          <a:prstGeom prst="rect">
            <a:avLst/>
          </a:prstGeom>
        </p:spPr>
      </p:pic>
      <p:sp>
        <p:nvSpPr>
          <p:cNvPr id="17" name="Text 13"/>
          <p:cNvSpPr txBox="1"/>
          <p:nvPr/>
        </p:nvSpPr>
        <p:spPr>
          <a:xfrm>
            <a:off x="7086600" y="2377440"/>
            <a:ext cx="4373575"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Image-first</a:t>
            </a:r>
            <a:r>
              <a:rPr lang="en-US" sz="1400" dirty="0">
                <a:solidFill>
                  <a:srgbClr val="BFD9F2"/>
                </a:solidFill>
                <a:latin typeface="Calibri" pitchFamily="34" charset="0"/>
                <a:ea typeface="Calibri" pitchFamily="34" charset="-122"/>
                <a:cs typeface="Calibri" pitchFamily="34" charset="-120"/>
              </a:rPr>
              <a:t> — composition extracted automatically</a:t>
            </a:r>
            <a:endParaRPr lang="en-US" sz="1400" dirty="0"/>
          </a:p>
        </p:txBody>
      </p:sp>
      <p:sp>
        <p:nvSpPr>
          <p:cNvPr id="18" name="Shape 14"/>
          <p:cNvSpPr/>
          <p:nvPr/>
        </p:nvSpPr>
        <p:spPr>
          <a:xfrm>
            <a:off x="2286000" y="2377440"/>
            <a:ext cx="3840480" cy="0"/>
          </a:xfrm>
          <a:prstGeom prst="line">
            <a:avLst/>
          </a:prstGeom>
          <a:noFill/>
          <a:ln w="9525">
            <a:solidFill>
              <a:srgbClr val="D6E6F5"/>
            </a:solidFill>
            <a:prstDash val="solid"/>
          </a:ln>
        </p:spPr>
      </p:sp>
      <p:sp>
        <p:nvSpPr>
          <p:cNvPr id="19" name="Shape 15"/>
          <p:cNvSpPr/>
          <p:nvPr/>
        </p:nvSpPr>
        <p:spPr>
          <a:xfrm>
            <a:off x="6720840" y="2377440"/>
            <a:ext cx="4693615" cy="0"/>
          </a:xfrm>
          <a:prstGeom prst="line">
            <a:avLst/>
          </a:prstGeom>
          <a:noFill/>
          <a:ln w="9525">
            <a:solidFill>
              <a:srgbClr val="24406B"/>
            </a:solidFill>
            <a:prstDash val="solid"/>
          </a:ln>
        </p:spPr>
      </p:sp>
      <p:sp>
        <p:nvSpPr>
          <p:cNvPr id="20" name="Text 16"/>
          <p:cNvSpPr txBox="1"/>
          <p:nvPr/>
        </p:nvSpPr>
        <p:spPr>
          <a:xfrm>
            <a:off x="548640" y="2834640"/>
            <a:ext cx="1371600" cy="457200"/>
          </a:xfrm>
          <a:prstGeom prst="rect">
            <a:avLst/>
          </a:prstGeom>
          <a:noFill/>
          <a:ln/>
        </p:spPr>
        <p:txBody>
          <a:bodyPr wrap="square" lIns="0" tIns="0" rIns="0" bIns="0" rtlCol="0" anchor="ctr"/>
          <a:lstStyle/>
          <a:p>
            <a:pPr marL="0" indent="0">
              <a:buNone/>
            </a:pPr>
            <a:r>
              <a:rPr lang="en-US" sz="1200" b="1" kern="0" spc="200" dirty="0">
                <a:solidFill>
                  <a:srgbClr val="1565D8"/>
                </a:solidFill>
                <a:latin typeface="Calibri" pitchFamily="34" charset="0"/>
                <a:ea typeface="Calibri" pitchFamily="34" charset="-122"/>
                <a:cs typeface="Calibri" pitchFamily="34" charset="-120"/>
              </a:rPr>
              <a:t>ANALYSIS</a:t>
            </a:r>
            <a:endParaRPr lang="en-US" sz="1200" dirty="0"/>
          </a:p>
        </p:txBody>
      </p:sp>
      <p:sp>
        <p:nvSpPr>
          <p:cNvPr id="21" name="Text 17"/>
          <p:cNvSpPr txBox="1"/>
          <p:nvPr/>
        </p:nvSpPr>
        <p:spPr>
          <a:xfrm>
            <a:off x="2286000" y="2834640"/>
            <a:ext cx="3886200" cy="457200"/>
          </a:xfrm>
          <a:prstGeom prst="rect">
            <a:avLst/>
          </a:prstGeom>
          <a:noFill/>
          <a:ln/>
        </p:spPr>
        <p:txBody>
          <a:bodyPr wrap="square" lIns="0" tIns="0" rIns="0" bIns="0" rtlCol="0" anchor="ctr"/>
          <a:lstStyle/>
          <a:p>
            <a:pPr marL="0" indent="0">
              <a:buNone/>
            </a:pPr>
            <a:r>
              <a:rPr lang="en-US" sz="1300" dirty="0">
                <a:solidFill>
                  <a:srgbClr val="1B2A41"/>
                </a:solidFill>
                <a:latin typeface="Calibri" pitchFamily="34" charset="0"/>
                <a:ea typeface="Calibri" pitchFamily="34" charset="-122"/>
                <a:cs typeface="Calibri" pitchFamily="34" charset="-120"/>
              </a:rPr>
              <a:t>Free-form responses</a:t>
            </a:r>
            <a:endParaRPr lang="en-US" sz="1300" dirty="0"/>
          </a:p>
        </p:txBody>
      </p:sp>
      <p:pic>
        <p:nvPicPr>
          <p:cNvPr id="22" name="Image 2" descr="preencoded.png"/>
          <p:cNvPicPr>
            <a:picLocks noChangeAspect="1"/>
          </p:cNvPicPr>
          <p:nvPr/>
        </p:nvPicPr>
        <p:blipFill>
          <a:blip r:embed="rId3"/>
          <a:stretch>
            <a:fillRect/>
          </a:stretch>
        </p:blipFill>
        <p:spPr>
          <a:xfrm>
            <a:off x="6720840" y="2944368"/>
            <a:ext cx="237744" cy="237744"/>
          </a:xfrm>
          <a:prstGeom prst="rect">
            <a:avLst/>
          </a:prstGeom>
        </p:spPr>
      </p:pic>
      <p:sp>
        <p:nvSpPr>
          <p:cNvPr id="23" name="Text 18"/>
          <p:cNvSpPr txBox="1"/>
          <p:nvPr/>
        </p:nvSpPr>
        <p:spPr>
          <a:xfrm>
            <a:off x="7086600" y="2834640"/>
            <a:ext cx="4373575"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Ingredient-level</a:t>
            </a:r>
            <a:r>
              <a:rPr lang="en-US" sz="1400" dirty="0">
                <a:solidFill>
                  <a:srgbClr val="BFD9F2"/>
                </a:solidFill>
                <a:latin typeface="Calibri" pitchFamily="34" charset="0"/>
                <a:ea typeface="Calibri" pitchFamily="34" charset="-122"/>
                <a:cs typeface="Calibri" pitchFamily="34" charset="-120"/>
              </a:rPr>
              <a:t> analysis with name normalization</a:t>
            </a:r>
            <a:endParaRPr lang="en-US" sz="1400" dirty="0"/>
          </a:p>
        </p:txBody>
      </p:sp>
      <p:sp>
        <p:nvSpPr>
          <p:cNvPr id="24" name="Shape 19"/>
          <p:cNvSpPr/>
          <p:nvPr/>
        </p:nvSpPr>
        <p:spPr>
          <a:xfrm>
            <a:off x="2286000" y="2834640"/>
            <a:ext cx="3840480" cy="0"/>
          </a:xfrm>
          <a:prstGeom prst="line">
            <a:avLst/>
          </a:prstGeom>
          <a:noFill/>
          <a:ln w="9525">
            <a:solidFill>
              <a:srgbClr val="D6E6F5"/>
            </a:solidFill>
            <a:prstDash val="solid"/>
          </a:ln>
        </p:spPr>
      </p:sp>
      <p:sp>
        <p:nvSpPr>
          <p:cNvPr id="25" name="Shape 20"/>
          <p:cNvSpPr/>
          <p:nvPr/>
        </p:nvSpPr>
        <p:spPr>
          <a:xfrm>
            <a:off x="6720840" y="2834640"/>
            <a:ext cx="4693615" cy="0"/>
          </a:xfrm>
          <a:prstGeom prst="line">
            <a:avLst/>
          </a:prstGeom>
          <a:noFill/>
          <a:ln w="9525">
            <a:solidFill>
              <a:srgbClr val="24406B"/>
            </a:solidFill>
            <a:prstDash val="solid"/>
          </a:ln>
        </p:spPr>
      </p:sp>
      <p:sp>
        <p:nvSpPr>
          <p:cNvPr id="26" name="Text 21"/>
          <p:cNvSpPr txBox="1"/>
          <p:nvPr/>
        </p:nvSpPr>
        <p:spPr>
          <a:xfrm>
            <a:off x="548640" y="3291840"/>
            <a:ext cx="1371600" cy="457200"/>
          </a:xfrm>
          <a:prstGeom prst="rect">
            <a:avLst/>
          </a:prstGeom>
          <a:noFill/>
          <a:ln/>
        </p:spPr>
        <p:txBody>
          <a:bodyPr wrap="square" lIns="0" tIns="0" rIns="0" bIns="0" rtlCol="0" anchor="ctr"/>
          <a:lstStyle/>
          <a:p>
            <a:pPr marL="0" indent="0">
              <a:buNone/>
            </a:pPr>
            <a:r>
              <a:rPr lang="en-US" sz="1200" b="1" kern="0" spc="200" dirty="0">
                <a:solidFill>
                  <a:srgbClr val="1565D8"/>
                </a:solidFill>
                <a:latin typeface="Calibri" pitchFamily="34" charset="0"/>
                <a:ea typeface="Calibri" pitchFamily="34" charset="-122"/>
                <a:cs typeface="Calibri" pitchFamily="34" charset="-120"/>
              </a:rPr>
              <a:t>EVIDENCE</a:t>
            </a:r>
            <a:endParaRPr lang="en-US" sz="1200" dirty="0"/>
          </a:p>
        </p:txBody>
      </p:sp>
      <p:sp>
        <p:nvSpPr>
          <p:cNvPr id="27" name="Text 22"/>
          <p:cNvSpPr txBox="1"/>
          <p:nvPr/>
        </p:nvSpPr>
        <p:spPr>
          <a:xfrm>
            <a:off x="2286000" y="3291840"/>
            <a:ext cx="3886200" cy="457200"/>
          </a:xfrm>
          <a:prstGeom prst="rect">
            <a:avLst/>
          </a:prstGeom>
          <a:noFill/>
          <a:ln/>
        </p:spPr>
        <p:txBody>
          <a:bodyPr wrap="square" lIns="0" tIns="0" rIns="0" bIns="0" rtlCol="0" anchor="ctr"/>
          <a:lstStyle/>
          <a:p>
            <a:pPr marL="0" indent="0">
              <a:buNone/>
            </a:pPr>
            <a:r>
              <a:rPr lang="en-US" sz="1300" dirty="0">
                <a:solidFill>
                  <a:srgbClr val="1B2A41"/>
                </a:solidFill>
                <a:latin typeface="Calibri" pitchFamily="34" charset="0"/>
                <a:ea typeface="Calibri" pitchFamily="34" charset="-122"/>
                <a:cs typeface="Calibri" pitchFamily="34" charset="-120"/>
              </a:rPr>
              <a:t>Verification depends on how it is prompted &amp; configured</a:t>
            </a:r>
            <a:endParaRPr lang="en-US" sz="1300" dirty="0"/>
          </a:p>
        </p:txBody>
      </p:sp>
      <p:pic>
        <p:nvPicPr>
          <p:cNvPr id="28" name="Image 3" descr="preencoded.png"/>
          <p:cNvPicPr>
            <a:picLocks noChangeAspect="1"/>
          </p:cNvPicPr>
          <p:nvPr/>
        </p:nvPicPr>
        <p:blipFill>
          <a:blip r:embed="rId3"/>
          <a:stretch>
            <a:fillRect/>
          </a:stretch>
        </p:blipFill>
        <p:spPr>
          <a:xfrm>
            <a:off x="6720840" y="3401568"/>
            <a:ext cx="237744" cy="237744"/>
          </a:xfrm>
          <a:prstGeom prst="rect">
            <a:avLst/>
          </a:prstGeom>
        </p:spPr>
      </p:pic>
      <p:sp>
        <p:nvSpPr>
          <p:cNvPr id="29" name="Text 23"/>
          <p:cNvSpPr txBox="1"/>
          <p:nvPr/>
        </p:nvSpPr>
        <p:spPr>
          <a:xfrm>
            <a:off x="7086600" y="3291840"/>
            <a:ext cx="4373575"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Trusted-source</a:t>
            </a:r>
            <a:r>
              <a:rPr lang="en-US" sz="1400" dirty="0">
                <a:solidFill>
                  <a:srgbClr val="BFD9F2"/>
                </a:solidFill>
                <a:latin typeface="Calibri" pitchFamily="34" charset="0"/>
                <a:ea typeface="Calibri" pitchFamily="34" charset="-122"/>
                <a:cs typeface="Calibri" pitchFamily="34" charset="-120"/>
              </a:rPr>
              <a:t> verification / retrieval layer</a:t>
            </a:r>
            <a:endParaRPr lang="en-US" sz="1400" dirty="0"/>
          </a:p>
        </p:txBody>
      </p:sp>
      <p:sp>
        <p:nvSpPr>
          <p:cNvPr id="30" name="Shape 24"/>
          <p:cNvSpPr/>
          <p:nvPr/>
        </p:nvSpPr>
        <p:spPr>
          <a:xfrm>
            <a:off x="2286000" y="3291840"/>
            <a:ext cx="3840480" cy="0"/>
          </a:xfrm>
          <a:prstGeom prst="line">
            <a:avLst/>
          </a:prstGeom>
          <a:noFill/>
          <a:ln w="9525">
            <a:solidFill>
              <a:srgbClr val="D6E6F5"/>
            </a:solidFill>
            <a:prstDash val="solid"/>
          </a:ln>
        </p:spPr>
      </p:sp>
      <p:sp>
        <p:nvSpPr>
          <p:cNvPr id="31" name="Shape 25"/>
          <p:cNvSpPr/>
          <p:nvPr/>
        </p:nvSpPr>
        <p:spPr>
          <a:xfrm>
            <a:off x="6720840" y="3291840"/>
            <a:ext cx="4693615" cy="0"/>
          </a:xfrm>
          <a:prstGeom prst="line">
            <a:avLst/>
          </a:prstGeom>
          <a:noFill/>
          <a:ln w="9525">
            <a:solidFill>
              <a:srgbClr val="24406B"/>
            </a:solidFill>
            <a:prstDash val="solid"/>
          </a:ln>
        </p:spPr>
      </p:sp>
      <p:sp>
        <p:nvSpPr>
          <p:cNvPr id="32" name="Text 26"/>
          <p:cNvSpPr txBox="1"/>
          <p:nvPr/>
        </p:nvSpPr>
        <p:spPr>
          <a:xfrm>
            <a:off x="548640" y="3749040"/>
            <a:ext cx="1371600" cy="457200"/>
          </a:xfrm>
          <a:prstGeom prst="rect">
            <a:avLst/>
          </a:prstGeom>
          <a:noFill/>
          <a:ln/>
        </p:spPr>
        <p:txBody>
          <a:bodyPr wrap="square" lIns="0" tIns="0" rIns="0" bIns="0" rtlCol="0" anchor="ctr"/>
          <a:lstStyle/>
          <a:p>
            <a:pPr marL="0" indent="0">
              <a:buNone/>
            </a:pPr>
            <a:r>
              <a:rPr lang="en-US" sz="1200" b="1" kern="0" spc="200" dirty="0">
                <a:solidFill>
                  <a:srgbClr val="1565D8"/>
                </a:solidFill>
                <a:latin typeface="Calibri" pitchFamily="34" charset="0"/>
                <a:ea typeface="Calibri" pitchFamily="34" charset="-122"/>
                <a:cs typeface="Calibri" pitchFamily="34" charset="-120"/>
              </a:rPr>
              <a:t>OUTPUT</a:t>
            </a:r>
            <a:endParaRPr lang="en-US" sz="1200" dirty="0"/>
          </a:p>
        </p:txBody>
      </p:sp>
      <p:sp>
        <p:nvSpPr>
          <p:cNvPr id="33" name="Text 27"/>
          <p:cNvSpPr txBox="1"/>
          <p:nvPr/>
        </p:nvSpPr>
        <p:spPr>
          <a:xfrm>
            <a:off x="2286000" y="3749040"/>
            <a:ext cx="3886200" cy="457200"/>
          </a:xfrm>
          <a:prstGeom prst="rect">
            <a:avLst/>
          </a:prstGeom>
          <a:noFill/>
          <a:ln/>
        </p:spPr>
        <p:txBody>
          <a:bodyPr wrap="square" lIns="0" tIns="0" rIns="0" bIns="0" rtlCol="0" anchor="ctr"/>
          <a:lstStyle/>
          <a:p>
            <a:pPr marL="0" indent="0">
              <a:buNone/>
            </a:pPr>
            <a:r>
              <a:rPr lang="en-US" sz="1300" dirty="0">
                <a:solidFill>
                  <a:srgbClr val="1B2A41"/>
                </a:solidFill>
                <a:latin typeface="Calibri" pitchFamily="34" charset="0"/>
                <a:ea typeface="Calibri" pitchFamily="34" charset="-122"/>
                <a:cs typeface="Calibri" pitchFamily="34" charset="-120"/>
              </a:rPr>
              <a:t>No dedicated end-to-end medicine-composition workflow</a:t>
            </a:r>
            <a:endParaRPr lang="en-US" sz="1300" dirty="0"/>
          </a:p>
        </p:txBody>
      </p:sp>
      <p:pic>
        <p:nvPicPr>
          <p:cNvPr id="34" name="Image 4" descr="preencoded.png"/>
          <p:cNvPicPr>
            <a:picLocks noChangeAspect="1"/>
          </p:cNvPicPr>
          <p:nvPr/>
        </p:nvPicPr>
        <p:blipFill>
          <a:blip r:embed="rId3"/>
          <a:stretch>
            <a:fillRect/>
          </a:stretch>
        </p:blipFill>
        <p:spPr>
          <a:xfrm>
            <a:off x="6720840" y="3858768"/>
            <a:ext cx="237744" cy="237744"/>
          </a:xfrm>
          <a:prstGeom prst="rect">
            <a:avLst/>
          </a:prstGeom>
        </p:spPr>
      </p:pic>
      <p:sp>
        <p:nvSpPr>
          <p:cNvPr id="35" name="Text 28"/>
          <p:cNvSpPr txBox="1"/>
          <p:nvPr/>
        </p:nvSpPr>
        <p:spPr>
          <a:xfrm>
            <a:off x="7086600" y="3749040"/>
            <a:ext cx="4373575"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Structured report</a:t>
            </a:r>
            <a:r>
              <a:rPr lang="en-US" sz="1400" dirty="0">
                <a:solidFill>
                  <a:srgbClr val="BFD9F2"/>
                </a:solidFill>
                <a:latin typeface="Calibri" pitchFamily="34" charset="0"/>
                <a:ea typeface="Calibri" pitchFamily="34" charset="-122"/>
                <a:cs typeface="Calibri" pitchFamily="34" charset="-120"/>
              </a:rPr>
              <a:t> + confidence &amp; safety boundaries</a:t>
            </a:r>
            <a:endParaRPr lang="en-US" sz="1400" dirty="0"/>
          </a:p>
        </p:txBody>
      </p:sp>
      <p:sp>
        <p:nvSpPr>
          <p:cNvPr id="36" name="Shape 29"/>
          <p:cNvSpPr/>
          <p:nvPr/>
        </p:nvSpPr>
        <p:spPr>
          <a:xfrm>
            <a:off x="2286000" y="3749040"/>
            <a:ext cx="3840480" cy="0"/>
          </a:xfrm>
          <a:prstGeom prst="line">
            <a:avLst/>
          </a:prstGeom>
          <a:noFill/>
          <a:ln w="9525">
            <a:solidFill>
              <a:srgbClr val="D6E6F5"/>
            </a:solidFill>
            <a:prstDash val="solid"/>
          </a:ln>
        </p:spPr>
      </p:sp>
      <p:sp>
        <p:nvSpPr>
          <p:cNvPr id="37" name="Shape 30"/>
          <p:cNvSpPr/>
          <p:nvPr/>
        </p:nvSpPr>
        <p:spPr>
          <a:xfrm>
            <a:off x="6720840" y="3749040"/>
            <a:ext cx="4693615" cy="0"/>
          </a:xfrm>
          <a:prstGeom prst="line">
            <a:avLst/>
          </a:prstGeom>
          <a:noFill/>
          <a:ln w="9525">
            <a:solidFill>
              <a:srgbClr val="24406B"/>
            </a:solidFill>
            <a:prstDash val="solid"/>
          </a:ln>
        </p:spPr>
      </p:sp>
      <p:sp>
        <p:nvSpPr>
          <p:cNvPr id="38" name="Text 31"/>
          <p:cNvSpPr txBox="1"/>
          <p:nvPr/>
        </p:nvSpPr>
        <p:spPr>
          <a:xfrm>
            <a:off x="548640" y="4434840"/>
            <a:ext cx="1371600" cy="548640"/>
          </a:xfrm>
          <a:prstGeom prst="rect">
            <a:avLst/>
          </a:prstGeom>
          <a:noFill/>
          <a:ln/>
        </p:spPr>
        <p:txBody>
          <a:bodyPr wrap="square" lIns="0" tIns="0" rIns="0" bIns="0" rtlCol="0" anchor="ctr"/>
          <a:lstStyle/>
          <a:p>
            <a:pPr marL="0" indent="0">
              <a:buNone/>
            </a:pPr>
            <a:r>
              <a:rPr lang="en-US" sz="1200" b="1" kern="0" spc="200" dirty="0">
                <a:solidFill>
                  <a:srgbClr val="1565D8"/>
                </a:solidFill>
                <a:latin typeface="Calibri" pitchFamily="34" charset="0"/>
                <a:ea typeface="Calibri" pitchFamily="34" charset="-122"/>
                <a:cs typeface="Calibri" pitchFamily="34" charset="-120"/>
              </a:rPr>
              <a:t>MEDICINE APPS</a:t>
            </a:r>
            <a:endParaRPr lang="en-US" sz="1200" dirty="0"/>
          </a:p>
        </p:txBody>
      </p:sp>
      <p:sp>
        <p:nvSpPr>
          <p:cNvPr id="39" name="Shape 32"/>
          <p:cNvSpPr/>
          <p:nvPr/>
        </p:nvSpPr>
        <p:spPr>
          <a:xfrm>
            <a:off x="2057400" y="4434840"/>
            <a:ext cx="4297680" cy="548640"/>
          </a:xfrm>
          <a:prstGeom prst="roundRect">
            <a:avLst>
              <a:gd name="adj" fmla="val 20000"/>
            </a:avLst>
          </a:prstGeom>
          <a:solidFill>
            <a:srgbClr val="EEF5FB"/>
          </a:solidFill>
          <a:ln w="6350">
            <a:solidFill>
              <a:srgbClr val="EEF5FB"/>
            </a:solidFill>
            <a:prstDash val="solid"/>
          </a:ln>
        </p:spPr>
      </p:sp>
      <p:sp>
        <p:nvSpPr>
          <p:cNvPr id="40" name="Text 33"/>
          <p:cNvSpPr txBox="1"/>
          <p:nvPr/>
        </p:nvSpPr>
        <p:spPr>
          <a:xfrm>
            <a:off x="2286000" y="4434840"/>
            <a:ext cx="3931920" cy="548640"/>
          </a:xfrm>
          <a:prstGeom prst="rect">
            <a:avLst/>
          </a:prstGeom>
          <a:noFill/>
          <a:ln/>
        </p:spPr>
        <p:txBody>
          <a:bodyPr wrap="square" lIns="0" tIns="0" rIns="0" bIns="0" rtlCol="0" anchor="ctr"/>
          <a:lstStyle/>
          <a:p>
            <a:pPr marL="0" indent="0">
              <a:buNone/>
            </a:pPr>
            <a:r>
              <a:rPr lang="en-US" sz="1300" dirty="0">
                <a:solidFill>
                  <a:srgbClr val="1B2A41"/>
                </a:solidFill>
                <a:latin typeface="Calibri" pitchFamily="34" charset="0"/>
                <a:ea typeface="Calibri" pitchFamily="34" charset="-122"/>
                <a:cs typeface="Calibri" pitchFamily="34" charset="-120"/>
              </a:rPr>
              <a:t>Name lookup → predefined pages → manual search</a:t>
            </a:r>
            <a:endParaRPr lang="en-US" sz="1300" dirty="0"/>
          </a:p>
        </p:txBody>
      </p:sp>
      <p:sp>
        <p:nvSpPr>
          <p:cNvPr id="41" name="Shape 34"/>
          <p:cNvSpPr/>
          <p:nvPr/>
        </p:nvSpPr>
        <p:spPr>
          <a:xfrm>
            <a:off x="6492240" y="4434840"/>
            <a:ext cx="5150815" cy="548640"/>
          </a:xfrm>
          <a:prstGeom prst="roundRect">
            <a:avLst>
              <a:gd name="adj" fmla="val 20000"/>
            </a:avLst>
          </a:prstGeom>
          <a:solidFill>
            <a:srgbClr val="0B1F3F"/>
          </a:solidFill>
          <a:ln w="6350">
            <a:solidFill>
              <a:srgbClr val="0B1F3F"/>
            </a:solidFill>
            <a:prstDash val="solid"/>
          </a:ln>
        </p:spPr>
      </p:sp>
      <p:sp>
        <p:nvSpPr>
          <p:cNvPr id="42" name="Text 35"/>
          <p:cNvSpPr txBox="1"/>
          <p:nvPr/>
        </p:nvSpPr>
        <p:spPr>
          <a:xfrm>
            <a:off x="6720840" y="4434840"/>
            <a:ext cx="4785055"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Image</a:t>
            </a:r>
            <a:r>
              <a:rPr lang="en-US" sz="1500" b="1" dirty="0">
                <a:solidFill>
                  <a:srgbClr val="00B8D9"/>
                </a:solidFill>
                <a:latin typeface="Calibri" pitchFamily="34" charset="0"/>
                <a:ea typeface="Calibri" pitchFamily="34" charset="-122"/>
                <a:cs typeface="Calibri" pitchFamily="34" charset="-120"/>
              </a:rPr>
              <a:t>  →  </a:t>
            </a:r>
            <a:r>
              <a:rPr lang="en-US" sz="1500" b="1" dirty="0">
                <a:solidFill>
                  <a:srgbClr val="FFFFFF"/>
                </a:solidFill>
                <a:latin typeface="Calibri" pitchFamily="34" charset="0"/>
                <a:ea typeface="Calibri" pitchFamily="34" charset="-122"/>
                <a:cs typeface="Calibri" pitchFamily="34" charset="-120"/>
              </a:rPr>
              <a:t>Composition</a:t>
            </a:r>
            <a:r>
              <a:rPr lang="en-US" sz="1500" b="1" dirty="0">
                <a:solidFill>
                  <a:srgbClr val="00B8D9"/>
                </a:solidFill>
                <a:latin typeface="Calibri" pitchFamily="34" charset="0"/>
                <a:ea typeface="Calibri" pitchFamily="34" charset="-122"/>
                <a:cs typeface="Calibri" pitchFamily="34" charset="-120"/>
              </a:rPr>
              <a:t>  →  </a:t>
            </a:r>
            <a:r>
              <a:rPr lang="en-US" sz="1500" b="1" dirty="0">
                <a:solidFill>
                  <a:srgbClr val="FFFFFF"/>
                </a:solidFill>
                <a:latin typeface="Calibri" pitchFamily="34" charset="0"/>
                <a:ea typeface="Calibri" pitchFamily="34" charset="-122"/>
                <a:cs typeface="Calibri" pitchFamily="34" charset="-120"/>
              </a:rPr>
              <a:t>Verification</a:t>
            </a:r>
            <a:r>
              <a:rPr lang="en-US" sz="1500" b="1" dirty="0">
                <a:solidFill>
                  <a:srgbClr val="00B8D9"/>
                </a:solidFill>
                <a:latin typeface="Calibri" pitchFamily="34" charset="0"/>
                <a:ea typeface="Calibri" pitchFamily="34" charset="-122"/>
                <a:cs typeface="Calibri" pitchFamily="34" charset="-120"/>
              </a:rPr>
              <a:t>  →  </a:t>
            </a:r>
            <a:r>
              <a:rPr lang="en-US" sz="1500" b="1" dirty="0">
                <a:solidFill>
                  <a:srgbClr val="FFFFFF"/>
                </a:solidFill>
                <a:latin typeface="Calibri" pitchFamily="34" charset="0"/>
                <a:ea typeface="Calibri" pitchFamily="34" charset="-122"/>
                <a:cs typeface="Calibri" pitchFamily="34" charset="-120"/>
              </a:rPr>
              <a:t>Explanation</a:t>
            </a:r>
            <a:endParaRPr lang="en-US" sz="1500" dirty="0"/>
          </a:p>
        </p:txBody>
      </p:sp>
      <p:sp>
        <p:nvSpPr>
          <p:cNvPr id="43" name="Shape 36"/>
          <p:cNvSpPr/>
          <p:nvPr/>
        </p:nvSpPr>
        <p:spPr>
          <a:xfrm>
            <a:off x="548640" y="5138928"/>
            <a:ext cx="11094415" cy="777240"/>
          </a:xfrm>
          <a:prstGeom prst="roundRect">
            <a:avLst>
              <a:gd name="adj" fmla="val 17647"/>
            </a:avLst>
          </a:prstGeom>
          <a:solidFill>
            <a:srgbClr val="1565D8"/>
          </a:solidFill>
          <a:ln w="6350">
            <a:solidFill>
              <a:srgbClr val="1565D8"/>
            </a:solidFill>
            <a:prstDash val="solid"/>
          </a:ln>
        </p:spPr>
      </p:sp>
      <p:sp>
        <p:nvSpPr>
          <p:cNvPr id="44" name="Text 37"/>
          <p:cNvSpPr txBox="1"/>
          <p:nvPr/>
        </p:nvSpPr>
        <p:spPr>
          <a:xfrm>
            <a:off x="822960" y="5138928"/>
            <a:ext cx="10545775" cy="777240"/>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“From a picture of a medicine to a verified, ingredient-level explanation in one workflow.”</a:t>
            </a:r>
            <a:endParaRPr lang="en-US" sz="2100" dirty="0"/>
          </a:p>
        </p:txBody>
      </p:sp>
      <p:sp>
        <p:nvSpPr>
          <p:cNvPr id="45" name="Text 38"/>
          <p:cNvSpPr txBox="1"/>
          <p:nvPr/>
        </p:nvSpPr>
        <p:spPr>
          <a:xfrm>
            <a:off x="548640" y="6007608"/>
            <a:ext cx="11094415" cy="411480"/>
          </a:xfrm>
          <a:prstGeom prst="rect">
            <a:avLst/>
          </a:prstGeom>
          <a:noFill/>
          <a:ln/>
        </p:spPr>
        <p:txBody>
          <a:bodyPr wrap="square" lIns="0" tIns="0" rIns="0" bIns="0" rtlCol="0" anchor="ctr"/>
          <a:lstStyle/>
          <a:p>
            <a:pPr marL="0" indent="0" algn="ctr">
              <a:buNone/>
            </a:pPr>
            <a:r>
              <a:rPr lang="en-US" sz="1300" i="1" dirty="0">
                <a:solidFill>
                  <a:srgbClr val="5B6B82"/>
                </a:solidFill>
                <a:latin typeface="Calibri" pitchFamily="34" charset="0"/>
                <a:ea typeface="Calibri" pitchFamily="34" charset="-122"/>
                <a:cs typeface="Calibri" pitchFamily="34" charset="-120"/>
              </a:rPr>
              <a:t>MedLens does not try to replace GPT, Gemini, or Claude. It uses AI as one component inside a specialized medicine-analysis pipeline.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marL="0" indent="0">
              <a:buNone/>
            </a:pPr>
            <a:r>
              <a:rPr lang="en-US" sz="1200" b="1" kern="0" spc="400" dirty="0">
                <a:solidFill>
                  <a:srgbClr val="1565D8"/>
                </a:solidFill>
                <a:latin typeface="Calibri" pitchFamily="34" charset="0"/>
                <a:ea typeface="Calibri" pitchFamily="34" charset="-122"/>
                <a:cs typeface="Calibri" pitchFamily="34" charset="-120"/>
              </a:rPr>
              <a:t>04  ·  PLANNED TECHNOLOGY STACK</a:t>
            </a:r>
            <a:endParaRPr lang="en-US" sz="1200" dirty="0"/>
          </a:p>
        </p:txBody>
      </p:sp>
      <p:sp>
        <p:nvSpPr>
          <p:cNvPr id="3" name="Text 1"/>
          <p:cNvSpPr txBox="1"/>
          <p:nvPr/>
        </p:nvSpPr>
        <p:spPr>
          <a:xfrm>
            <a:off x="548640" y="6473952"/>
            <a:ext cx="8229600" cy="22860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MedLens  ·  Informational tool — not a diagnosis or prescription</a:t>
            </a:r>
            <a:endParaRPr lang="en-US" sz="1000" dirty="0"/>
          </a:p>
        </p:txBody>
      </p:sp>
      <p:sp>
        <p:nvSpPr>
          <p:cNvPr id="4" name="Text 2"/>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4 / 5</a:t>
            </a:r>
            <a:endParaRPr lang="en-US" sz="1000" dirty="0"/>
          </a:p>
        </p:txBody>
      </p:sp>
      <p:sp>
        <p:nvSpPr>
          <p:cNvPr id="5" name="Text 3"/>
          <p:cNvSpPr txBox="1"/>
          <p:nvPr/>
        </p:nvSpPr>
        <p:spPr>
          <a:xfrm>
            <a:off x="548640" y="658368"/>
            <a:ext cx="11094415" cy="685800"/>
          </a:xfrm>
          <a:prstGeom prst="rect">
            <a:avLst/>
          </a:prstGeom>
          <a:noFill/>
          <a:ln/>
        </p:spPr>
        <p:txBody>
          <a:bodyPr wrap="square" lIns="0" tIns="0" rIns="0" bIns="0" rtlCol="0" anchor="ctr"/>
          <a:lstStyle/>
          <a:p>
            <a:pPr marL="0" indent="0">
              <a:buNone/>
            </a:pPr>
            <a:r>
              <a:rPr lang="en-US" sz="3800" b="1" dirty="0">
                <a:solidFill>
                  <a:srgbClr val="0B1F3F"/>
                </a:solidFill>
                <a:latin typeface="Calibri" pitchFamily="34" charset="0"/>
                <a:ea typeface="Calibri" pitchFamily="34" charset="-122"/>
                <a:cs typeface="Calibri" pitchFamily="34" charset="-120"/>
              </a:rPr>
              <a:t>How we plan to build it</a:t>
            </a:r>
            <a:endParaRPr lang="en-US" sz="3800" dirty="0"/>
          </a:p>
        </p:txBody>
      </p:sp>
      <p:sp>
        <p:nvSpPr>
          <p:cNvPr id="6" name="Shape 4"/>
          <p:cNvSpPr/>
          <p:nvPr/>
        </p:nvSpPr>
        <p:spPr>
          <a:xfrm>
            <a:off x="548640" y="1554480"/>
            <a:ext cx="3545738" cy="1463040"/>
          </a:xfrm>
          <a:prstGeom prst="roundRect">
            <a:avLst>
              <a:gd name="adj" fmla="val 9375"/>
            </a:avLst>
          </a:prstGeom>
          <a:solidFill>
            <a:srgbClr val="EEF5FB"/>
          </a:solidFill>
          <a:ln w="6350">
            <a:solidFill>
              <a:srgbClr val="EEF5FB"/>
            </a:solidFill>
            <a:prstDash val="solid"/>
          </a:ln>
          <a:effectLst>
            <a:outerShdw blurRad="127000" dist="25400" dir="5400000" algn="bl" rotWithShape="0">
              <a:srgbClr val="0B1F3F">
                <a:alpha val="10000"/>
              </a:srgbClr>
            </a:outerShdw>
          </a:effectLst>
        </p:spPr>
      </p:sp>
      <p:sp>
        <p:nvSpPr>
          <p:cNvPr id="7" name="Shape 5"/>
          <p:cNvSpPr/>
          <p:nvPr/>
        </p:nvSpPr>
        <p:spPr>
          <a:xfrm>
            <a:off x="777240" y="1737360"/>
            <a:ext cx="402336" cy="402336"/>
          </a:xfrm>
          <a:prstGeom prst="ellipse">
            <a:avLst/>
          </a:prstGeom>
          <a:solidFill>
            <a:srgbClr val="0B1F3F"/>
          </a:solidFill>
          <a:ln w="6350">
            <a:solidFill>
              <a:srgbClr val="0B1F3F"/>
            </a:solidFill>
            <a:prstDash val="solid"/>
          </a:ln>
        </p:spPr>
      </p:sp>
      <p:pic>
        <p:nvPicPr>
          <p:cNvPr id="8" name="Image 0" descr="preencoded.png"/>
          <p:cNvPicPr>
            <a:picLocks noChangeAspect="1"/>
          </p:cNvPicPr>
          <p:nvPr/>
        </p:nvPicPr>
        <p:blipFill>
          <a:blip r:embed="rId3"/>
          <a:stretch>
            <a:fillRect/>
          </a:stretch>
        </p:blipFill>
        <p:spPr>
          <a:xfrm>
            <a:off x="877824" y="1837944"/>
            <a:ext cx="201168" cy="201168"/>
          </a:xfrm>
          <a:prstGeom prst="rect">
            <a:avLst/>
          </a:prstGeom>
        </p:spPr>
      </p:pic>
      <p:sp>
        <p:nvSpPr>
          <p:cNvPr id="9" name="Text 6"/>
          <p:cNvSpPr txBox="1"/>
          <p:nvPr/>
        </p:nvSpPr>
        <p:spPr>
          <a:xfrm>
            <a:off x="1325880" y="1737360"/>
            <a:ext cx="2631338" cy="402336"/>
          </a:xfrm>
          <a:prstGeom prst="rect">
            <a:avLst/>
          </a:prstGeom>
          <a:noFill/>
          <a:ln/>
        </p:spPr>
        <p:txBody>
          <a:bodyPr wrap="square" lIns="0" tIns="0" rIns="0" bIns="0" rtlCol="0" anchor="ctr"/>
          <a:lstStyle/>
          <a:p>
            <a:pPr marL="0" indent="0">
              <a:buNone/>
            </a:pPr>
            <a:r>
              <a:rPr lang="en-US" sz="1600" b="1" dirty="0">
                <a:solidFill>
                  <a:srgbClr val="0B1F3F"/>
                </a:solidFill>
                <a:latin typeface="Calibri" pitchFamily="34" charset="0"/>
                <a:ea typeface="Calibri" pitchFamily="34" charset="-122"/>
                <a:cs typeface="Calibri" pitchFamily="34" charset="-120"/>
              </a:rPr>
              <a:t>Frontend</a:t>
            </a:r>
            <a:endParaRPr lang="en-US" sz="1600" dirty="0"/>
          </a:p>
        </p:txBody>
      </p:sp>
      <p:sp>
        <p:nvSpPr>
          <p:cNvPr id="10" name="Text 7"/>
          <p:cNvSpPr txBox="1"/>
          <p:nvPr/>
        </p:nvSpPr>
        <p:spPr>
          <a:xfrm>
            <a:off x="777240" y="2267712"/>
            <a:ext cx="3134258" cy="685800"/>
          </a:xfrm>
          <a:prstGeom prst="rect">
            <a:avLst/>
          </a:prstGeom>
          <a:noFill/>
          <a:ln/>
        </p:spPr>
        <p:txBody>
          <a:bodyPr wrap="square" lIns="0" tIns="0" rIns="0" bIns="0" rtlCol="0" anchor="t"/>
          <a:lstStyle/>
          <a:p>
            <a:pPr marL="177800" indent="-177800">
              <a:spcAft>
                <a:spcPts val="200"/>
              </a:spcAft>
              <a:buSzPct val="100000"/>
              <a:buChar char="•"/>
            </a:pPr>
            <a:r>
              <a:rPr lang="en-US" sz="1300" dirty="0">
                <a:solidFill>
                  <a:srgbClr val="1B2A41"/>
                </a:solidFill>
                <a:latin typeface="Calibri" pitchFamily="34" charset="0"/>
                <a:ea typeface="Calibri" pitchFamily="34" charset="-122"/>
                <a:cs typeface="Calibri" pitchFamily="34" charset="-120"/>
              </a:rPr>
              <a:t>React / Next.js</a:t>
            </a:r>
            <a:endParaRPr lang="en-US" sz="1300" dirty="0"/>
          </a:p>
          <a:p>
            <a:pPr marL="177800" indent="-177800">
              <a:spcAft>
                <a:spcPts val="200"/>
              </a:spcAft>
              <a:buSzPct val="100000"/>
              <a:buChar char="•"/>
            </a:pPr>
            <a:r>
              <a:rPr lang="en-US" sz="1300" dirty="0">
                <a:solidFill>
                  <a:srgbClr val="1B2A41"/>
                </a:solidFill>
                <a:latin typeface="Calibri" pitchFamily="34" charset="0"/>
                <a:ea typeface="Calibri" pitchFamily="34" charset="-122"/>
                <a:cs typeface="Calibri" pitchFamily="34" charset="-120"/>
              </a:rPr>
              <a:t>Responsive web interface</a:t>
            </a:r>
            <a:endParaRPr lang="en-US" sz="1300" dirty="0"/>
          </a:p>
          <a:p>
            <a:pPr marL="177800" indent="-177800">
              <a:spcAft>
                <a:spcPts val="200"/>
              </a:spcAft>
              <a:buSzPct val="100000"/>
              <a:buChar char="•"/>
            </a:pPr>
            <a:r>
              <a:rPr lang="en-US" sz="1300" dirty="0">
                <a:solidFill>
                  <a:srgbClr val="1B2A41"/>
                </a:solidFill>
                <a:latin typeface="Calibri" pitchFamily="34" charset="0"/>
                <a:ea typeface="Calibri" pitchFamily="34" charset="-122"/>
                <a:cs typeface="Calibri" pitchFamily="34" charset="-120"/>
              </a:rPr>
              <a:t>Image upload &amp; camera capture</a:t>
            </a:r>
            <a:endParaRPr lang="en-US" sz="1300" dirty="0"/>
          </a:p>
        </p:txBody>
      </p:sp>
      <p:sp>
        <p:nvSpPr>
          <p:cNvPr id="11" name="Shape 8"/>
          <p:cNvSpPr/>
          <p:nvPr/>
        </p:nvSpPr>
        <p:spPr>
          <a:xfrm>
            <a:off x="4322978" y="1554480"/>
            <a:ext cx="3545738" cy="1463040"/>
          </a:xfrm>
          <a:prstGeom prst="roundRect">
            <a:avLst>
              <a:gd name="adj" fmla="val 9375"/>
            </a:avLst>
          </a:prstGeom>
          <a:solidFill>
            <a:srgbClr val="EEF5FB"/>
          </a:solidFill>
          <a:ln w="6350">
            <a:solidFill>
              <a:srgbClr val="EEF5FB"/>
            </a:solidFill>
            <a:prstDash val="solid"/>
          </a:ln>
          <a:effectLst>
            <a:outerShdw blurRad="127000" dist="25400" dir="5400000" algn="bl" rotWithShape="0">
              <a:srgbClr val="0B1F3F">
                <a:alpha val="10000"/>
              </a:srgbClr>
            </a:outerShdw>
          </a:effectLst>
        </p:spPr>
      </p:sp>
      <p:sp>
        <p:nvSpPr>
          <p:cNvPr id="12" name="Shape 9"/>
          <p:cNvSpPr/>
          <p:nvPr/>
        </p:nvSpPr>
        <p:spPr>
          <a:xfrm>
            <a:off x="4551578" y="1737360"/>
            <a:ext cx="402336" cy="402336"/>
          </a:xfrm>
          <a:prstGeom prst="ellipse">
            <a:avLst/>
          </a:prstGeom>
          <a:solidFill>
            <a:srgbClr val="0B1F3F"/>
          </a:solidFill>
          <a:ln w="6350">
            <a:solidFill>
              <a:srgbClr val="0B1F3F"/>
            </a:solidFill>
            <a:prstDash val="solid"/>
          </a:ln>
        </p:spPr>
      </p:sp>
      <p:pic>
        <p:nvPicPr>
          <p:cNvPr id="13" name="Image 1" descr="preencoded.png"/>
          <p:cNvPicPr>
            <a:picLocks noChangeAspect="1"/>
          </p:cNvPicPr>
          <p:nvPr/>
        </p:nvPicPr>
        <p:blipFill>
          <a:blip r:embed="rId4"/>
          <a:stretch>
            <a:fillRect/>
          </a:stretch>
        </p:blipFill>
        <p:spPr>
          <a:xfrm>
            <a:off x="4652162" y="1837944"/>
            <a:ext cx="201168" cy="201168"/>
          </a:xfrm>
          <a:prstGeom prst="rect">
            <a:avLst/>
          </a:prstGeom>
        </p:spPr>
      </p:pic>
      <p:sp>
        <p:nvSpPr>
          <p:cNvPr id="14" name="Text 10"/>
          <p:cNvSpPr txBox="1"/>
          <p:nvPr/>
        </p:nvSpPr>
        <p:spPr>
          <a:xfrm>
            <a:off x="5100218" y="1737360"/>
            <a:ext cx="2631338" cy="402336"/>
          </a:xfrm>
          <a:prstGeom prst="rect">
            <a:avLst/>
          </a:prstGeom>
          <a:noFill/>
          <a:ln/>
        </p:spPr>
        <p:txBody>
          <a:bodyPr wrap="square" lIns="0" tIns="0" rIns="0" bIns="0" rtlCol="0" anchor="ctr"/>
          <a:lstStyle/>
          <a:p>
            <a:pPr marL="0" indent="0">
              <a:buNone/>
            </a:pPr>
            <a:r>
              <a:rPr lang="en-US" sz="1600" b="1" dirty="0">
                <a:solidFill>
                  <a:srgbClr val="0B1F3F"/>
                </a:solidFill>
                <a:latin typeface="Calibri" pitchFamily="34" charset="0"/>
                <a:ea typeface="Calibri" pitchFamily="34" charset="-122"/>
                <a:cs typeface="Calibri" pitchFamily="34" charset="-120"/>
              </a:rPr>
              <a:t>Backend</a:t>
            </a:r>
            <a:endParaRPr lang="en-US" sz="1600" dirty="0"/>
          </a:p>
        </p:txBody>
      </p:sp>
      <p:sp>
        <p:nvSpPr>
          <p:cNvPr id="15" name="Text 11"/>
          <p:cNvSpPr txBox="1"/>
          <p:nvPr/>
        </p:nvSpPr>
        <p:spPr>
          <a:xfrm>
            <a:off x="4551578" y="2267712"/>
            <a:ext cx="3134258" cy="685800"/>
          </a:xfrm>
          <a:prstGeom prst="rect">
            <a:avLst/>
          </a:prstGeom>
          <a:noFill/>
          <a:ln/>
        </p:spPr>
        <p:txBody>
          <a:bodyPr wrap="square" lIns="0" tIns="0" rIns="0" bIns="0" rtlCol="0" anchor="t"/>
          <a:lstStyle/>
          <a:p>
            <a:pPr marL="177800" indent="-177800">
              <a:spcAft>
                <a:spcPts val="200"/>
              </a:spcAft>
              <a:buSzPct val="100000"/>
              <a:buChar char="•"/>
            </a:pPr>
            <a:r>
              <a:rPr lang="en-US" sz="1300" dirty="0">
                <a:solidFill>
                  <a:srgbClr val="1B2A41"/>
                </a:solidFill>
                <a:latin typeface="Calibri" pitchFamily="34" charset="0"/>
                <a:ea typeface="Calibri" pitchFamily="34" charset="-122"/>
                <a:cs typeface="Calibri" pitchFamily="34" charset="-120"/>
              </a:rPr>
              <a:t>Python + FastAPI</a:t>
            </a:r>
            <a:endParaRPr lang="en-US" sz="1300" dirty="0"/>
          </a:p>
          <a:p>
            <a:pPr marL="177800" indent="-177800">
              <a:spcAft>
                <a:spcPts val="200"/>
              </a:spcAft>
              <a:buSzPct val="100000"/>
              <a:buChar char="•"/>
            </a:pPr>
            <a:r>
              <a:rPr lang="en-US" sz="1300" dirty="0">
                <a:solidFill>
                  <a:srgbClr val="1B2A41"/>
                </a:solidFill>
                <a:latin typeface="Calibri" pitchFamily="34" charset="0"/>
                <a:ea typeface="Calibri" pitchFamily="34" charset="-122"/>
                <a:cs typeface="Calibri" pitchFamily="34" charset="-120"/>
              </a:rPr>
              <a:t>API orchestration</a:t>
            </a:r>
            <a:endParaRPr lang="en-US" sz="1300" dirty="0"/>
          </a:p>
          <a:p>
            <a:pPr marL="177800" indent="-177800">
              <a:spcAft>
                <a:spcPts val="200"/>
              </a:spcAft>
              <a:buSzPct val="100000"/>
              <a:buChar char="•"/>
            </a:pPr>
            <a:r>
              <a:rPr lang="en-US" sz="1300" dirty="0">
                <a:solidFill>
                  <a:srgbClr val="1B2A41"/>
                </a:solidFill>
                <a:latin typeface="Calibri" pitchFamily="34" charset="0"/>
                <a:ea typeface="Calibri" pitchFamily="34" charset="-122"/>
                <a:cs typeface="Calibri" pitchFamily="34" charset="-120"/>
              </a:rPr>
              <a:t>Image processing</a:t>
            </a:r>
            <a:endParaRPr lang="en-US" sz="1300" dirty="0"/>
          </a:p>
        </p:txBody>
      </p:sp>
      <p:sp>
        <p:nvSpPr>
          <p:cNvPr id="16" name="Shape 12"/>
          <p:cNvSpPr/>
          <p:nvPr/>
        </p:nvSpPr>
        <p:spPr>
          <a:xfrm>
            <a:off x="8097317" y="1554480"/>
            <a:ext cx="3545738" cy="1463040"/>
          </a:xfrm>
          <a:prstGeom prst="roundRect">
            <a:avLst>
              <a:gd name="adj" fmla="val 9375"/>
            </a:avLst>
          </a:prstGeom>
          <a:solidFill>
            <a:srgbClr val="EEF5FB"/>
          </a:solidFill>
          <a:ln w="6350">
            <a:solidFill>
              <a:srgbClr val="EEF5FB"/>
            </a:solidFill>
            <a:prstDash val="solid"/>
          </a:ln>
          <a:effectLst>
            <a:outerShdw blurRad="127000" dist="25400" dir="5400000" algn="bl" rotWithShape="0">
              <a:srgbClr val="0B1F3F">
                <a:alpha val="10000"/>
              </a:srgbClr>
            </a:outerShdw>
          </a:effectLst>
        </p:spPr>
      </p:sp>
      <p:sp>
        <p:nvSpPr>
          <p:cNvPr id="17" name="Shape 13"/>
          <p:cNvSpPr/>
          <p:nvPr/>
        </p:nvSpPr>
        <p:spPr>
          <a:xfrm>
            <a:off x="8325917" y="1737360"/>
            <a:ext cx="402336" cy="402336"/>
          </a:xfrm>
          <a:prstGeom prst="ellipse">
            <a:avLst/>
          </a:prstGeom>
          <a:solidFill>
            <a:srgbClr val="0B1F3F"/>
          </a:solidFill>
          <a:ln w="6350">
            <a:solidFill>
              <a:srgbClr val="0B1F3F"/>
            </a:solidFill>
            <a:prstDash val="solid"/>
          </a:ln>
        </p:spPr>
      </p:sp>
      <p:pic>
        <p:nvPicPr>
          <p:cNvPr id="18" name="Image 2" descr="preencoded.png"/>
          <p:cNvPicPr>
            <a:picLocks noChangeAspect="1"/>
          </p:cNvPicPr>
          <p:nvPr/>
        </p:nvPicPr>
        <p:blipFill>
          <a:blip r:embed="rId5"/>
          <a:stretch>
            <a:fillRect/>
          </a:stretch>
        </p:blipFill>
        <p:spPr>
          <a:xfrm>
            <a:off x="8426501" y="1837944"/>
            <a:ext cx="201168" cy="201168"/>
          </a:xfrm>
          <a:prstGeom prst="rect">
            <a:avLst/>
          </a:prstGeom>
        </p:spPr>
      </p:pic>
      <p:sp>
        <p:nvSpPr>
          <p:cNvPr id="19" name="Text 14"/>
          <p:cNvSpPr txBox="1"/>
          <p:nvPr/>
        </p:nvSpPr>
        <p:spPr>
          <a:xfrm>
            <a:off x="8874557" y="1737360"/>
            <a:ext cx="2631338" cy="402336"/>
          </a:xfrm>
          <a:prstGeom prst="rect">
            <a:avLst/>
          </a:prstGeom>
          <a:noFill/>
          <a:ln/>
        </p:spPr>
        <p:txBody>
          <a:bodyPr wrap="square" lIns="0" tIns="0" rIns="0" bIns="0" rtlCol="0" anchor="ctr"/>
          <a:lstStyle/>
          <a:p>
            <a:pPr marL="0" indent="0">
              <a:buNone/>
            </a:pPr>
            <a:r>
              <a:rPr lang="en-US" sz="1600" b="1" dirty="0">
                <a:solidFill>
                  <a:srgbClr val="0B1F3F"/>
                </a:solidFill>
                <a:latin typeface="Calibri" pitchFamily="34" charset="0"/>
                <a:ea typeface="Calibri" pitchFamily="34" charset="-122"/>
                <a:cs typeface="Calibri" pitchFamily="34" charset="-120"/>
              </a:rPr>
              <a:t>OCR / Computer Vision</a:t>
            </a:r>
            <a:endParaRPr lang="en-US" sz="1600" dirty="0"/>
          </a:p>
        </p:txBody>
      </p:sp>
      <p:sp>
        <p:nvSpPr>
          <p:cNvPr id="20" name="Text 15"/>
          <p:cNvSpPr txBox="1"/>
          <p:nvPr/>
        </p:nvSpPr>
        <p:spPr>
          <a:xfrm>
            <a:off x="8325917" y="2267712"/>
            <a:ext cx="3134258" cy="685800"/>
          </a:xfrm>
          <a:prstGeom prst="rect">
            <a:avLst/>
          </a:prstGeom>
          <a:noFill/>
          <a:ln/>
        </p:spPr>
        <p:txBody>
          <a:bodyPr wrap="square" lIns="0" tIns="0" rIns="0" bIns="0" rtlCol="0" anchor="t"/>
          <a:lstStyle/>
          <a:p>
            <a:pPr marL="177800" indent="-177800">
              <a:spcAft>
                <a:spcPts val="200"/>
              </a:spcAft>
              <a:buSzPct val="100000"/>
              <a:buChar char="•"/>
            </a:pPr>
            <a:r>
              <a:rPr lang="en-US" sz="1300" dirty="0">
                <a:solidFill>
                  <a:srgbClr val="1B2A41"/>
                </a:solidFill>
                <a:latin typeface="Calibri" pitchFamily="34" charset="0"/>
                <a:ea typeface="Calibri" pitchFamily="34" charset="-122"/>
                <a:cs typeface="Calibri" pitchFamily="34" charset="-120"/>
              </a:rPr>
              <a:t>OCR engine (Tesseract / cloud OCR)</a:t>
            </a:r>
            <a:endParaRPr lang="en-US" sz="1300" dirty="0"/>
          </a:p>
          <a:p>
            <a:pPr marL="177800" indent="-177800">
              <a:spcAft>
                <a:spcPts val="200"/>
              </a:spcAft>
              <a:buSzPct val="100000"/>
              <a:buChar char="•"/>
            </a:pPr>
            <a:r>
              <a:rPr lang="en-US" sz="1300" dirty="0">
                <a:solidFill>
                  <a:srgbClr val="1B2A41"/>
                </a:solidFill>
                <a:latin typeface="Calibri" pitchFamily="34" charset="0"/>
                <a:ea typeface="Calibri" pitchFamily="34" charset="-122"/>
                <a:cs typeface="Calibri" pitchFamily="34" charset="-120"/>
              </a:rPr>
              <a:t>Vision-capable model where needed</a:t>
            </a:r>
            <a:endParaRPr lang="en-US" sz="1300" dirty="0"/>
          </a:p>
          <a:p>
            <a:pPr marL="177800" indent="-177800">
              <a:spcAft>
                <a:spcPts val="200"/>
              </a:spcAft>
              <a:buSzPct val="100000"/>
              <a:buChar char="•"/>
            </a:pPr>
            <a:r>
              <a:rPr lang="en-US" sz="1300" dirty="0">
                <a:solidFill>
                  <a:srgbClr val="1B2A41"/>
                </a:solidFill>
                <a:latin typeface="Calibri" pitchFamily="34" charset="0"/>
                <a:ea typeface="Calibri" pitchFamily="34" charset="-122"/>
                <a:cs typeface="Calibri" pitchFamily="34" charset="-120"/>
              </a:rPr>
              <a:t>Image preprocessing</a:t>
            </a:r>
            <a:endParaRPr lang="en-US" sz="1300" dirty="0"/>
          </a:p>
        </p:txBody>
      </p:sp>
      <p:sp>
        <p:nvSpPr>
          <p:cNvPr id="21" name="Shape 16"/>
          <p:cNvSpPr/>
          <p:nvPr/>
        </p:nvSpPr>
        <p:spPr>
          <a:xfrm>
            <a:off x="548640" y="3200400"/>
            <a:ext cx="3545738" cy="1463040"/>
          </a:xfrm>
          <a:prstGeom prst="roundRect">
            <a:avLst>
              <a:gd name="adj" fmla="val 9375"/>
            </a:avLst>
          </a:prstGeom>
          <a:solidFill>
            <a:srgbClr val="EEF5FB"/>
          </a:solidFill>
          <a:ln w="6350">
            <a:solidFill>
              <a:srgbClr val="EEF5FB"/>
            </a:solidFill>
            <a:prstDash val="solid"/>
          </a:ln>
          <a:effectLst>
            <a:outerShdw blurRad="127000" dist="25400" dir="5400000" algn="bl" rotWithShape="0">
              <a:srgbClr val="0B1F3F">
                <a:alpha val="10000"/>
              </a:srgbClr>
            </a:outerShdw>
          </a:effectLst>
        </p:spPr>
      </p:sp>
      <p:sp>
        <p:nvSpPr>
          <p:cNvPr id="22" name="Shape 17"/>
          <p:cNvSpPr/>
          <p:nvPr/>
        </p:nvSpPr>
        <p:spPr>
          <a:xfrm>
            <a:off x="777240" y="3383280"/>
            <a:ext cx="402336" cy="402336"/>
          </a:xfrm>
          <a:prstGeom prst="ellipse">
            <a:avLst/>
          </a:prstGeom>
          <a:solidFill>
            <a:srgbClr val="0B1F3F"/>
          </a:solidFill>
          <a:ln w="6350">
            <a:solidFill>
              <a:srgbClr val="0B1F3F"/>
            </a:solidFill>
            <a:prstDash val="solid"/>
          </a:ln>
        </p:spPr>
      </p:sp>
      <p:pic>
        <p:nvPicPr>
          <p:cNvPr id="23" name="Image 3" descr="preencoded.png"/>
          <p:cNvPicPr>
            <a:picLocks noChangeAspect="1"/>
          </p:cNvPicPr>
          <p:nvPr/>
        </p:nvPicPr>
        <p:blipFill>
          <a:blip r:embed="rId6"/>
          <a:stretch>
            <a:fillRect/>
          </a:stretch>
        </p:blipFill>
        <p:spPr>
          <a:xfrm>
            <a:off x="877824" y="3483864"/>
            <a:ext cx="201168" cy="201168"/>
          </a:xfrm>
          <a:prstGeom prst="rect">
            <a:avLst/>
          </a:prstGeom>
        </p:spPr>
      </p:pic>
      <p:sp>
        <p:nvSpPr>
          <p:cNvPr id="24" name="Text 18"/>
          <p:cNvSpPr txBox="1"/>
          <p:nvPr/>
        </p:nvSpPr>
        <p:spPr>
          <a:xfrm>
            <a:off x="1325880" y="3383280"/>
            <a:ext cx="2631338" cy="402336"/>
          </a:xfrm>
          <a:prstGeom prst="rect">
            <a:avLst/>
          </a:prstGeom>
          <a:noFill/>
          <a:ln/>
        </p:spPr>
        <p:txBody>
          <a:bodyPr wrap="square" lIns="0" tIns="0" rIns="0" bIns="0" rtlCol="0" anchor="ctr"/>
          <a:lstStyle/>
          <a:p>
            <a:pPr marL="0" indent="0">
              <a:buNone/>
            </a:pPr>
            <a:r>
              <a:rPr lang="en-US" sz="1600" b="1" dirty="0">
                <a:solidFill>
                  <a:srgbClr val="0B1F3F"/>
                </a:solidFill>
                <a:latin typeface="Calibri" pitchFamily="34" charset="0"/>
                <a:ea typeface="Calibri" pitchFamily="34" charset="-122"/>
                <a:cs typeface="Calibri" pitchFamily="34" charset="-120"/>
              </a:rPr>
              <a:t>AI / Intelligence</a:t>
            </a:r>
            <a:endParaRPr lang="en-US" sz="1600" dirty="0"/>
          </a:p>
        </p:txBody>
      </p:sp>
      <p:sp>
        <p:nvSpPr>
          <p:cNvPr id="25" name="Text 19"/>
          <p:cNvSpPr txBox="1"/>
          <p:nvPr/>
        </p:nvSpPr>
        <p:spPr>
          <a:xfrm>
            <a:off x="777240" y="3913632"/>
            <a:ext cx="3134258" cy="685800"/>
          </a:xfrm>
          <a:prstGeom prst="rect">
            <a:avLst/>
          </a:prstGeom>
          <a:noFill/>
          <a:ln/>
        </p:spPr>
        <p:txBody>
          <a:bodyPr wrap="square" lIns="0" tIns="0" rIns="0" bIns="0" rtlCol="0" anchor="t"/>
          <a:lstStyle/>
          <a:p>
            <a:pPr marL="177800" indent="-177800">
              <a:spcAft>
                <a:spcPts val="200"/>
              </a:spcAft>
              <a:buSzPct val="100000"/>
              <a:buChar char="•"/>
            </a:pPr>
            <a:r>
              <a:rPr lang="en-US" sz="1300" dirty="0">
                <a:solidFill>
                  <a:srgbClr val="1B2A41"/>
                </a:solidFill>
                <a:latin typeface="Calibri" pitchFamily="34" charset="0"/>
                <a:ea typeface="Calibri" pitchFamily="34" charset="-122"/>
                <a:cs typeface="Calibri" pitchFamily="34" charset="-120"/>
              </a:rPr>
              <a:t>LLM / Generative AI</a:t>
            </a:r>
            <a:endParaRPr lang="en-US" sz="1300" dirty="0"/>
          </a:p>
          <a:p>
            <a:pPr marL="177800" indent="-177800">
              <a:spcAft>
                <a:spcPts val="200"/>
              </a:spcAft>
              <a:buSzPct val="100000"/>
              <a:buChar char="•"/>
            </a:pPr>
            <a:r>
              <a:rPr lang="en-US" sz="1300" dirty="0">
                <a:solidFill>
                  <a:srgbClr val="1B2A41"/>
                </a:solidFill>
                <a:latin typeface="Calibri" pitchFamily="34" charset="0"/>
                <a:ea typeface="Calibri" pitchFamily="34" charset="-122"/>
                <a:cs typeface="Calibri" pitchFamily="34" charset="-120"/>
              </a:rPr>
              <a:t>RAG with trusted references</a:t>
            </a:r>
            <a:endParaRPr lang="en-US" sz="1300" dirty="0"/>
          </a:p>
          <a:p>
            <a:pPr marL="177800" indent="-177800">
              <a:spcAft>
                <a:spcPts val="200"/>
              </a:spcAft>
              <a:buSzPct val="100000"/>
              <a:buChar char="•"/>
            </a:pPr>
            <a:r>
              <a:rPr lang="en-US" sz="1300" dirty="0">
                <a:solidFill>
                  <a:srgbClr val="1B2A41"/>
                </a:solidFill>
                <a:latin typeface="Calibri" pitchFamily="34" charset="0"/>
                <a:ea typeface="Calibri" pitchFamily="34" charset="-122"/>
                <a:cs typeface="Calibri" pitchFamily="34" charset="-120"/>
              </a:rPr>
              <a:t>Structured output generation</a:t>
            </a:r>
            <a:endParaRPr lang="en-US" sz="1300" dirty="0"/>
          </a:p>
        </p:txBody>
      </p:sp>
      <p:sp>
        <p:nvSpPr>
          <p:cNvPr id="26" name="Shape 20"/>
          <p:cNvSpPr/>
          <p:nvPr/>
        </p:nvSpPr>
        <p:spPr>
          <a:xfrm>
            <a:off x="4322978" y="3200400"/>
            <a:ext cx="3545738" cy="1463040"/>
          </a:xfrm>
          <a:prstGeom prst="roundRect">
            <a:avLst>
              <a:gd name="adj" fmla="val 9375"/>
            </a:avLst>
          </a:prstGeom>
          <a:solidFill>
            <a:srgbClr val="EEF5FB"/>
          </a:solidFill>
          <a:ln w="6350">
            <a:solidFill>
              <a:srgbClr val="EEF5FB"/>
            </a:solidFill>
            <a:prstDash val="solid"/>
          </a:ln>
          <a:effectLst>
            <a:outerShdw blurRad="127000" dist="25400" dir="5400000" algn="bl" rotWithShape="0">
              <a:srgbClr val="0B1F3F">
                <a:alpha val="10000"/>
              </a:srgbClr>
            </a:outerShdw>
          </a:effectLst>
        </p:spPr>
      </p:sp>
      <p:sp>
        <p:nvSpPr>
          <p:cNvPr id="27" name="Shape 21"/>
          <p:cNvSpPr/>
          <p:nvPr/>
        </p:nvSpPr>
        <p:spPr>
          <a:xfrm>
            <a:off x="4551578" y="3383280"/>
            <a:ext cx="402336" cy="402336"/>
          </a:xfrm>
          <a:prstGeom prst="ellipse">
            <a:avLst/>
          </a:prstGeom>
          <a:solidFill>
            <a:srgbClr val="0B1F3F"/>
          </a:solidFill>
          <a:ln w="6350">
            <a:solidFill>
              <a:srgbClr val="0B1F3F"/>
            </a:solidFill>
            <a:prstDash val="solid"/>
          </a:ln>
        </p:spPr>
      </p:sp>
      <p:pic>
        <p:nvPicPr>
          <p:cNvPr id="28" name="Image 4" descr="preencoded.png"/>
          <p:cNvPicPr>
            <a:picLocks noChangeAspect="1"/>
          </p:cNvPicPr>
          <p:nvPr/>
        </p:nvPicPr>
        <p:blipFill>
          <a:blip r:embed="rId7"/>
          <a:stretch>
            <a:fillRect/>
          </a:stretch>
        </p:blipFill>
        <p:spPr>
          <a:xfrm>
            <a:off x="4652162" y="3483864"/>
            <a:ext cx="201168" cy="201168"/>
          </a:xfrm>
          <a:prstGeom prst="rect">
            <a:avLst/>
          </a:prstGeom>
        </p:spPr>
      </p:pic>
      <p:sp>
        <p:nvSpPr>
          <p:cNvPr id="29" name="Text 22"/>
          <p:cNvSpPr txBox="1"/>
          <p:nvPr/>
        </p:nvSpPr>
        <p:spPr>
          <a:xfrm>
            <a:off x="5100218" y="3383280"/>
            <a:ext cx="2631338" cy="402336"/>
          </a:xfrm>
          <a:prstGeom prst="rect">
            <a:avLst/>
          </a:prstGeom>
          <a:noFill/>
          <a:ln/>
        </p:spPr>
        <p:txBody>
          <a:bodyPr wrap="square" lIns="0" tIns="0" rIns="0" bIns="0" rtlCol="0" anchor="ctr"/>
          <a:lstStyle/>
          <a:p>
            <a:pPr marL="0" indent="0">
              <a:buNone/>
            </a:pPr>
            <a:r>
              <a:rPr lang="en-US" sz="1600" b="1" dirty="0">
                <a:solidFill>
                  <a:srgbClr val="0B1F3F"/>
                </a:solidFill>
                <a:latin typeface="Calibri" pitchFamily="34" charset="0"/>
                <a:ea typeface="Calibri" pitchFamily="34" charset="-122"/>
                <a:cs typeface="Calibri" pitchFamily="34" charset="-120"/>
              </a:rPr>
              <a:t>Data / Verification</a:t>
            </a:r>
            <a:endParaRPr lang="en-US" sz="1600" dirty="0"/>
          </a:p>
        </p:txBody>
      </p:sp>
      <p:sp>
        <p:nvSpPr>
          <p:cNvPr id="30" name="Text 23"/>
          <p:cNvSpPr txBox="1"/>
          <p:nvPr/>
        </p:nvSpPr>
        <p:spPr>
          <a:xfrm>
            <a:off x="4551578" y="3913632"/>
            <a:ext cx="3134258" cy="685800"/>
          </a:xfrm>
          <a:prstGeom prst="rect">
            <a:avLst/>
          </a:prstGeom>
          <a:noFill/>
          <a:ln/>
        </p:spPr>
        <p:txBody>
          <a:bodyPr wrap="square" lIns="0" tIns="0" rIns="0" bIns="0" rtlCol="0" anchor="t"/>
          <a:lstStyle/>
          <a:p>
            <a:pPr marL="177800" indent="-177800">
              <a:spcAft>
                <a:spcPts val="200"/>
              </a:spcAft>
              <a:buSzPct val="100000"/>
              <a:buChar char="•"/>
            </a:pPr>
            <a:r>
              <a:rPr lang="en-US" sz="1300" dirty="0">
                <a:solidFill>
                  <a:srgbClr val="1B2A41"/>
                </a:solidFill>
                <a:latin typeface="Calibri" pitchFamily="34" charset="0"/>
                <a:ea typeface="Calibri" pitchFamily="34" charset="-122"/>
                <a:cs typeface="Calibri" pitchFamily="34" charset="-120"/>
              </a:rPr>
              <a:t>PostgreSQL</a:t>
            </a:r>
            <a:endParaRPr lang="en-US" sz="1300" dirty="0"/>
          </a:p>
          <a:p>
            <a:pPr marL="177800" indent="-177800">
              <a:spcAft>
                <a:spcPts val="200"/>
              </a:spcAft>
              <a:buSzPct val="100000"/>
              <a:buChar char="•"/>
            </a:pPr>
            <a:r>
              <a:rPr lang="en-US" sz="1300" dirty="0">
                <a:solidFill>
                  <a:srgbClr val="1B2A41"/>
                </a:solidFill>
                <a:latin typeface="Calibri" pitchFamily="34" charset="0"/>
                <a:ea typeface="Calibri" pitchFamily="34" charset="-122"/>
                <a:cs typeface="Calibri" pitchFamily="34" charset="-120"/>
              </a:rPr>
              <a:t>Trusted medicine / ingredient sources</a:t>
            </a:r>
            <a:endParaRPr lang="en-US" sz="1300" dirty="0"/>
          </a:p>
          <a:p>
            <a:pPr marL="177800" indent="-177800">
              <a:spcAft>
                <a:spcPts val="200"/>
              </a:spcAft>
              <a:buSzPct val="100000"/>
              <a:buChar char="•"/>
            </a:pPr>
            <a:r>
              <a:rPr lang="en-US" sz="1300" dirty="0">
                <a:solidFill>
                  <a:srgbClr val="1B2A41"/>
                </a:solidFill>
                <a:latin typeface="Calibri" pitchFamily="34" charset="0"/>
                <a:ea typeface="Calibri" pitchFamily="34" charset="-122"/>
                <a:cs typeface="Calibri" pitchFamily="34" charset="-120"/>
              </a:rPr>
              <a:t>Vector search (pgvector / vector DB)</a:t>
            </a:r>
            <a:endParaRPr lang="en-US" sz="1300" dirty="0"/>
          </a:p>
        </p:txBody>
      </p:sp>
      <p:sp>
        <p:nvSpPr>
          <p:cNvPr id="31" name="Shape 24"/>
          <p:cNvSpPr/>
          <p:nvPr/>
        </p:nvSpPr>
        <p:spPr>
          <a:xfrm>
            <a:off x="8097317" y="3200400"/>
            <a:ext cx="3545738" cy="1463040"/>
          </a:xfrm>
          <a:prstGeom prst="roundRect">
            <a:avLst>
              <a:gd name="adj" fmla="val 9375"/>
            </a:avLst>
          </a:prstGeom>
          <a:solidFill>
            <a:srgbClr val="EEF5FB"/>
          </a:solidFill>
          <a:ln w="6350">
            <a:solidFill>
              <a:srgbClr val="EEF5FB"/>
            </a:solidFill>
            <a:prstDash val="solid"/>
          </a:ln>
          <a:effectLst>
            <a:outerShdw blurRad="127000" dist="25400" dir="5400000" algn="bl" rotWithShape="0">
              <a:srgbClr val="0B1F3F">
                <a:alpha val="10000"/>
              </a:srgbClr>
            </a:outerShdw>
          </a:effectLst>
        </p:spPr>
      </p:sp>
      <p:sp>
        <p:nvSpPr>
          <p:cNvPr id="32" name="Shape 25"/>
          <p:cNvSpPr/>
          <p:nvPr/>
        </p:nvSpPr>
        <p:spPr>
          <a:xfrm>
            <a:off x="8325917" y="3383280"/>
            <a:ext cx="402336" cy="402336"/>
          </a:xfrm>
          <a:prstGeom prst="ellipse">
            <a:avLst/>
          </a:prstGeom>
          <a:solidFill>
            <a:srgbClr val="0B1F3F"/>
          </a:solidFill>
          <a:ln w="6350">
            <a:solidFill>
              <a:srgbClr val="0B1F3F"/>
            </a:solidFill>
            <a:prstDash val="solid"/>
          </a:ln>
        </p:spPr>
      </p:sp>
      <p:pic>
        <p:nvPicPr>
          <p:cNvPr id="33" name="Image 5" descr="preencoded.png"/>
          <p:cNvPicPr>
            <a:picLocks noChangeAspect="1"/>
          </p:cNvPicPr>
          <p:nvPr/>
        </p:nvPicPr>
        <p:blipFill>
          <a:blip r:embed="rId8"/>
          <a:stretch>
            <a:fillRect/>
          </a:stretch>
        </p:blipFill>
        <p:spPr>
          <a:xfrm>
            <a:off x="8426501" y="3483864"/>
            <a:ext cx="201168" cy="201168"/>
          </a:xfrm>
          <a:prstGeom prst="rect">
            <a:avLst/>
          </a:prstGeom>
        </p:spPr>
      </p:pic>
      <p:sp>
        <p:nvSpPr>
          <p:cNvPr id="34" name="Text 26"/>
          <p:cNvSpPr txBox="1"/>
          <p:nvPr/>
        </p:nvSpPr>
        <p:spPr>
          <a:xfrm>
            <a:off x="8874557" y="3383280"/>
            <a:ext cx="2631338" cy="402336"/>
          </a:xfrm>
          <a:prstGeom prst="rect">
            <a:avLst/>
          </a:prstGeom>
          <a:noFill/>
          <a:ln/>
        </p:spPr>
        <p:txBody>
          <a:bodyPr wrap="square" lIns="0" tIns="0" rIns="0" bIns="0" rtlCol="0" anchor="ctr"/>
          <a:lstStyle/>
          <a:p>
            <a:pPr marL="0" indent="0">
              <a:buNone/>
            </a:pPr>
            <a:r>
              <a:rPr lang="en-US" sz="1600" b="1" dirty="0">
                <a:solidFill>
                  <a:srgbClr val="0B1F3F"/>
                </a:solidFill>
                <a:latin typeface="Calibri" pitchFamily="34" charset="0"/>
                <a:ea typeface="Calibri" pitchFamily="34" charset="-122"/>
                <a:cs typeface="Calibri" pitchFamily="34" charset="-120"/>
              </a:rPr>
              <a:t>Development / Deployment</a:t>
            </a:r>
            <a:endParaRPr lang="en-US" sz="1600" dirty="0"/>
          </a:p>
        </p:txBody>
      </p:sp>
      <p:sp>
        <p:nvSpPr>
          <p:cNvPr id="35" name="Text 27"/>
          <p:cNvSpPr txBox="1"/>
          <p:nvPr/>
        </p:nvSpPr>
        <p:spPr>
          <a:xfrm>
            <a:off x="8325917" y="3913632"/>
            <a:ext cx="3134258" cy="685800"/>
          </a:xfrm>
          <a:prstGeom prst="rect">
            <a:avLst/>
          </a:prstGeom>
          <a:noFill/>
          <a:ln/>
        </p:spPr>
        <p:txBody>
          <a:bodyPr wrap="square" lIns="0" tIns="0" rIns="0" bIns="0" rtlCol="0" anchor="t"/>
          <a:lstStyle/>
          <a:p>
            <a:pPr marL="177800" indent="-177800">
              <a:spcAft>
                <a:spcPts val="200"/>
              </a:spcAft>
              <a:buSzPct val="100000"/>
              <a:buChar char="•"/>
            </a:pPr>
            <a:r>
              <a:rPr lang="en-US" sz="1300" dirty="0">
                <a:solidFill>
                  <a:srgbClr val="1B2A41"/>
                </a:solidFill>
                <a:latin typeface="Calibri" pitchFamily="34" charset="0"/>
                <a:ea typeface="Calibri" pitchFamily="34" charset="-122"/>
                <a:cs typeface="Calibri" pitchFamily="34" charset="-120"/>
              </a:rPr>
              <a:t>Git + GitHub</a:t>
            </a:r>
            <a:endParaRPr lang="en-US" sz="1300" dirty="0"/>
          </a:p>
          <a:p>
            <a:pPr marL="177800" indent="-177800">
              <a:spcAft>
                <a:spcPts val="200"/>
              </a:spcAft>
              <a:buSzPct val="100000"/>
              <a:buChar char="•"/>
            </a:pPr>
            <a:r>
              <a:rPr lang="en-US" sz="1300" dirty="0">
                <a:solidFill>
                  <a:srgbClr val="1B2A41"/>
                </a:solidFill>
                <a:latin typeface="Calibri" pitchFamily="34" charset="0"/>
                <a:ea typeface="Calibri" pitchFamily="34" charset="-122"/>
                <a:cs typeface="Calibri" pitchFamily="34" charset="-120"/>
              </a:rPr>
              <a:t>Vercel for the web app</a:t>
            </a:r>
            <a:endParaRPr lang="en-US" sz="1300" dirty="0"/>
          </a:p>
          <a:p>
            <a:pPr marL="177800" indent="-177800">
              <a:spcAft>
                <a:spcPts val="200"/>
              </a:spcAft>
              <a:buSzPct val="100000"/>
              <a:buChar char="•"/>
            </a:pPr>
            <a:r>
              <a:rPr lang="en-US" sz="1300" dirty="0">
                <a:solidFill>
                  <a:srgbClr val="1B2A41"/>
                </a:solidFill>
                <a:latin typeface="Calibri" pitchFamily="34" charset="0"/>
                <a:ea typeface="Calibri" pitchFamily="34" charset="-122"/>
                <a:cs typeface="Calibri" pitchFamily="34" charset="-120"/>
              </a:rPr>
              <a:t>Cloud backend / AI services</a:t>
            </a:r>
            <a:endParaRPr lang="en-US" sz="1300" dirty="0"/>
          </a:p>
        </p:txBody>
      </p:sp>
      <p:sp>
        <p:nvSpPr>
          <p:cNvPr id="36" name="Text 28"/>
          <p:cNvSpPr txBox="1"/>
          <p:nvPr/>
        </p:nvSpPr>
        <p:spPr>
          <a:xfrm>
            <a:off x="548640" y="4846320"/>
            <a:ext cx="5486400" cy="256032"/>
          </a:xfrm>
          <a:prstGeom prst="rect">
            <a:avLst/>
          </a:prstGeom>
          <a:noFill/>
          <a:ln/>
        </p:spPr>
        <p:txBody>
          <a:bodyPr wrap="square" lIns="0" tIns="0" rIns="0" bIns="0" rtlCol="0" anchor="ctr"/>
          <a:lstStyle/>
          <a:p>
            <a:pPr marL="0" indent="0">
              <a:buNone/>
            </a:pPr>
            <a:r>
              <a:rPr lang="en-US" sz="1200" b="1" kern="0" spc="300" dirty="0">
                <a:solidFill>
                  <a:srgbClr val="1565D8"/>
                </a:solidFill>
                <a:latin typeface="Calibri" pitchFamily="34" charset="0"/>
                <a:ea typeface="Calibri" pitchFamily="34" charset="-122"/>
                <a:cs typeface="Calibri" pitchFamily="34" charset="-120"/>
              </a:rPr>
              <a:t>ARCHITECTURE FLOW</a:t>
            </a:r>
            <a:endParaRPr lang="en-US" sz="1200" dirty="0"/>
          </a:p>
        </p:txBody>
      </p:sp>
      <p:sp>
        <p:nvSpPr>
          <p:cNvPr id="37" name="Shape 29"/>
          <p:cNvSpPr/>
          <p:nvPr/>
        </p:nvSpPr>
        <p:spPr>
          <a:xfrm>
            <a:off x="548640" y="5166360"/>
            <a:ext cx="1005840" cy="685800"/>
          </a:xfrm>
          <a:prstGeom prst="roundRect">
            <a:avLst>
              <a:gd name="adj" fmla="val 13333"/>
            </a:avLst>
          </a:prstGeom>
          <a:solidFill>
            <a:srgbClr val="0B1F3F"/>
          </a:solidFill>
          <a:ln w="6350">
            <a:solidFill>
              <a:srgbClr val="0B1F3F"/>
            </a:solidFill>
            <a:prstDash val="solid"/>
          </a:ln>
        </p:spPr>
      </p:sp>
      <p:sp>
        <p:nvSpPr>
          <p:cNvPr id="38" name="Text 30"/>
          <p:cNvSpPr txBox="1"/>
          <p:nvPr/>
        </p:nvSpPr>
        <p:spPr>
          <a:xfrm>
            <a:off x="585216" y="5166360"/>
            <a:ext cx="932688"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Web App</a:t>
            </a:r>
            <a:endParaRPr lang="en-US" sz="1200" dirty="0"/>
          </a:p>
        </p:txBody>
      </p:sp>
      <p:sp>
        <p:nvSpPr>
          <p:cNvPr id="39" name="Shape 31"/>
          <p:cNvSpPr/>
          <p:nvPr/>
        </p:nvSpPr>
        <p:spPr>
          <a:xfrm>
            <a:off x="1581912" y="5509260"/>
            <a:ext cx="200368" cy="0"/>
          </a:xfrm>
          <a:prstGeom prst="line">
            <a:avLst/>
          </a:prstGeom>
          <a:noFill/>
          <a:ln w="22225">
            <a:solidFill>
              <a:srgbClr val="1565D8"/>
            </a:solidFill>
            <a:prstDash val="solid"/>
            <a:tailEnd type="triangle"/>
          </a:ln>
        </p:spPr>
      </p:sp>
      <p:sp>
        <p:nvSpPr>
          <p:cNvPr id="40" name="Shape 32"/>
          <p:cNvSpPr/>
          <p:nvPr/>
        </p:nvSpPr>
        <p:spPr>
          <a:xfrm>
            <a:off x="1809712" y="5166360"/>
            <a:ext cx="1005840" cy="685800"/>
          </a:xfrm>
          <a:prstGeom prst="roundRect">
            <a:avLst>
              <a:gd name="adj" fmla="val 13333"/>
            </a:avLst>
          </a:prstGeom>
          <a:solidFill>
            <a:srgbClr val="0B1F3F"/>
          </a:solidFill>
          <a:ln w="6350">
            <a:solidFill>
              <a:srgbClr val="0B1F3F"/>
            </a:solidFill>
            <a:prstDash val="solid"/>
          </a:ln>
        </p:spPr>
      </p:sp>
      <p:sp>
        <p:nvSpPr>
          <p:cNvPr id="41" name="Text 33"/>
          <p:cNvSpPr txBox="1"/>
          <p:nvPr/>
        </p:nvSpPr>
        <p:spPr>
          <a:xfrm>
            <a:off x="1846288" y="5166360"/>
            <a:ext cx="932688"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FastAPI</a:t>
            </a:r>
            <a:endParaRPr lang="en-US" sz="1200" dirty="0"/>
          </a:p>
        </p:txBody>
      </p:sp>
      <p:sp>
        <p:nvSpPr>
          <p:cNvPr id="42" name="Shape 34"/>
          <p:cNvSpPr/>
          <p:nvPr/>
        </p:nvSpPr>
        <p:spPr>
          <a:xfrm>
            <a:off x="2842984" y="5509260"/>
            <a:ext cx="200368" cy="0"/>
          </a:xfrm>
          <a:prstGeom prst="line">
            <a:avLst/>
          </a:prstGeom>
          <a:noFill/>
          <a:ln w="22225">
            <a:solidFill>
              <a:srgbClr val="1565D8"/>
            </a:solidFill>
            <a:prstDash val="solid"/>
            <a:tailEnd type="triangle"/>
          </a:ln>
        </p:spPr>
      </p:sp>
      <p:sp>
        <p:nvSpPr>
          <p:cNvPr id="43" name="Shape 35"/>
          <p:cNvSpPr/>
          <p:nvPr/>
        </p:nvSpPr>
        <p:spPr>
          <a:xfrm>
            <a:off x="3070784" y="5166360"/>
            <a:ext cx="1005840" cy="685800"/>
          </a:xfrm>
          <a:prstGeom prst="roundRect">
            <a:avLst>
              <a:gd name="adj" fmla="val 13333"/>
            </a:avLst>
          </a:prstGeom>
          <a:solidFill>
            <a:srgbClr val="0B1F3F"/>
          </a:solidFill>
          <a:ln w="6350">
            <a:solidFill>
              <a:srgbClr val="0B1F3F"/>
            </a:solidFill>
            <a:prstDash val="solid"/>
          </a:ln>
        </p:spPr>
      </p:sp>
      <p:sp>
        <p:nvSpPr>
          <p:cNvPr id="44" name="Text 36"/>
          <p:cNvSpPr txBox="1"/>
          <p:nvPr/>
        </p:nvSpPr>
        <p:spPr>
          <a:xfrm>
            <a:off x="3107360" y="5166360"/>
            <a:ext cx="932688"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OCR / Vision</a:t>
            </a:r>
            <a:endParaRPr lang="en-US" sz="1200" dirty="0"/>
          </a:p>
        </p:txBody>
      </p:sp>
      <p:sp>
        <p:nvSpPr>
          <p:cNvPr id="45" name="Shape 37"/>
          <p:cNvSpPr/>
          <p:nvPr/>
        </p:nvSpPr>
        <p:spPr>
          <a:xfrm>
            <a:off x="4104056" y="5509260"/>
            <a:ext cx="200368" cy="0"/>
          </a:xfrm>
          <a:prstGeom prst="line">
            <a:avLst/>
          </a:prstGeom>
          <a:noFill/>
          <a:ln w="22225">
            <a:solidFill>
              <a:srgbClr val="1565D8"/>
            </a:solidFill>
            <a:prstDash val="solid"/>
            <a:tailEnd type="triangle"/>
          </a:ln>
        </p:spPr>
      </p:sp>
      <p:sp>
        <p:nvSpPr>
          <p:cNvPr id="46" name="Shape 38"/>
          <p:cNvSpPr/>
          <p:nvPr/>
        </p:nvSpPr>
        <p:spPr>
          <a:xfrm>
            <a:off x="4331856" y="5166360"/>
            <a:ext cx="1005840" cy="685800"/>
          </a:xfrm>
          <a:prstGeom prst="roundRect">
            <a:avLst>
              <a:gd name="adj" fmla="val 13333"/>
            </a:avLst>
          </a:prstGeom>
          <a:solidFill>
            <a:srgbClr val="0B1F3F"/>
          </a:solidFill>
          <a:ln w="6350">
            <a:solidFill>
              <a:srgbClr val="0B1F3F"/>
            </a:solidFill>
            <a:prstDash val="solid"/>
          </a:ln>
        </p:spPr>
      </p:sp>
      <p:sp>
        <p:nvSpPr>
          <p:cNvPr id="47" name="Text 39"/>
          <p:cNvSpPr txBox="1"/>
          <p:nvPr/>
        </p:nvSpPr>
        <p:spPr>
          <a:xfrm>
            <a:off x="4368432" y="5166360"/>
            <a:ext cx="932688"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Ingredient Extraction</a:t>
            </a:r>
            <a:endParaRPr lang="en-US" sz="1200" dirty="0"/>
          </a:p>
        </p:txBody>
      </p:sp>
      <p:sp>
        <p:nvSpPr>
          <p:cNvPr id="48" name="Shape 40"/>
          <p:cNvSpPr/>
          <p:nvPr/>
        </p:nvSpPr>
        <p:spPr>
          <a:xfrm>
            <a:off x="5365128" y="5509260"/>
            <a:ext cx="200368" cy="0"/>
          </a:xfrm>
          <a:prstGeom prst="line">
            <a:avLst/>
          </a:prstGeom>
          <a:noFill/>
          <a:ln w="22225">
            <a:solidFill>
              <a:srgbClr val="1565D8"/>
            </a:solidFill>
            <a:prstDash val="solid"/>
            <a:tailEnd type="triangle"/>
          </a:ln>
        </p:spPr>
      </p:sp>
      <p:sp>
        <p:nvSpPr>
          <p:cNvPr id="49" name="Shape 41"/>
          <p:cNvSpPr/>
          <p:nvPr/>
        </p:nvSpPr>
        <p:spPr>
          <a:xfrm>
            <a:off x="5592928" y="5166360"/>
            <a:ext cx="1005840" cy="685800"/>
          </a:xfrm>
          <a:prstGeom prst="roundRect">
            <a:avLst>
              <a:gd name="adj" fmla="val 13333"/>
            </a:avLst>
          </a:prstGeom>
          <a:solidFill>
            <a:srgbClr val="0B1F3F"/>
          </a:solidFill>
          <a:ln w="6350">
            <a:solidFill>
              <a:srgbClr val="0B1F3F"/>
            </a:solidFill>
            <a:prstDash val="solid"/>
          </a:ln>
        </p:spPr>
      </p:sp>
      <p:sp>
        <p:nvSpPr>
          <p:cNvPr id="50" name="Text 42"/>
          <p:cNvSpPr txBox="1"/>
          <p:nvPr/>
        </p:nvSpPr>
        <p:spPr>
          <a:xfrm>
            <a:off x="5629504" y="5166360"/>
            <a:ext cx="932688"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Normalization</a:t>
            </a:r>
            <a:endParaRPr lang="en-US" sz="1200" dirty="0"/>
          </a:p>
        </p:txBody>
      </p:sp>
      <p:sp>
        <p:nvSpPr>
          <p:cNvPr id="51" name="Shape 43"/>
          <p:cNvSpPr/>
          <p:nvPr/>
        </p:nvSpPr>
        <p:spPr>
          <a:xfrm>
            <a:off x="6626200" y="5509260"/>
            <a:ext cx="200368" cy="0"/>
          </a:xfrm>
          <a:prstGeom prst="line">
            <a:avLst/>
          </a:prstGeom>
          <a:noFill/>
          <a:ln w="22225">
            <a:solidFill>
              <a:srgbClr val="1565D8"/>
            </a:solidFill>
            <a:prstDash val="solid"/>
            <a:tailEnd type="triangle"/>
          </a:ln>
        </p:spPr>
      </p:sp>
      <p:sp>
        <p:nvSpPr>
          <p:cNvPr id="52" name="Shape 44"/>
          <p:cNvSpPr/>
          <p:nvPr/>
        </p:nvSpPr>
        <p:spPr>
          <a:xfrm>
            <a:off x="6854000" y="5166360"/>
            <a:ext cx="1005840" cy="685800"/>
          </a:xfrm>
          <a:prstGeom prst="roundRect">
            <a:avLst>
              <a:gd name="adj" fmla="val 13333"/>
            </a:avLst>
          </a:prstGeom>
          <a:solidFill>
            <a:srgbClr val="0B1F3F"/>
          </a:solidFill>
          <a:ln w="6350">
            <a:solidFill>
              <a:srgbClr val="0B1F3F"/>
            </a:solidFill>
            <a:prstDash val="solid"/>
          </a:ln>
        </p:spPr>
      </p:sp>
      <p:sp>
        <p:nvSpPr>
          <p:cNvPr id="53" name="Text 45"/>
          <p:cNvSpPr txBox="1"/>
          <p:nvPr/>
        </p:nvSpPr>
        <p:spPr>
          <a:xfrm>
            <a:off x="6890576" y="5166360"/>
            <a:ext cx="932688"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Trusted Data / RAG</a:t>
            </a:r>
            <a:endParaRPr lang="en-US" sz="1200" dirty="0"/>
          </a:p>
        </p:txBody>
      </p:sp>
      <p:sp>
        <p:nvSpPr>
          <p:cNvPr id="54" name="Shape 46"/>
          <p:cNvSpPr/>
          <p:nvPr/>
        </p:nvSpPr>
        <p:spPr>
          <a:xfrm>
            <a:off x="7887271" y="5509260"/>
            <a:ext cx="200368" cy="0"/>
          </a:xfrm>
          <a:prstGeom prst="line">
            <a:avLst/>
          </a:prstGeom>
          <a:noFill/>
          <a:ln w="22225">
            <a:solidFill>
              <a:srgbClr val="1565D8"/>
            </a:solidFill>
            <a:prstDash val="solid"/>
            <a:tailEnd type="triangle"/>
          </a:ln>
        </p:spPr>
      </p:sp>
      <p:sp>
        <p:nvSpPr>
          <p:cNvPr id="55" name="Shape 47"/>
          <p:cNvSpPr/>
          <p:nvPr/>
        </p:nvSpPr>
        <p:spPr>
          <a:xfrm>
            <a:off x="8115071" y="5166360"/>
            <a:ext cx="1005840" cy="685800"/>
          </a:xfrm>
          <a:prstGeom prst="roundRect">
            <a:avLst>
              <a:gd name="adj" fmla="val 13333"/>
            </a:avLst>
          </a:prstGeom>
          <a:solidFill>
            <a:srgbClr val="0B1F3F"/>
          </a:solidFill>
          <a:ln w="6350">
            <a:solidFill>
              <a:srgbClr val="0B1F3F"/>
            </a:solidFill>
            <a:prstDash val="solid"/>
          </a:ln>
        </p:spPr>
      </p:sp>
      <p:sp>
        <p:nvSpPr>
          <p:cNvPr id="56" name="Text 48"/>
          <p:cNvSpPr txBox="1"/>
          <p:nvPr/>
        </p:nvSpPr>
        <p:spPr>
          <a:xfrm>
            <a:off x="8151647" y="5166360"/>
            <a:ext cx="932688"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AI Explanation</a:t>
            </a:r>
            <a:endParaRPr lang="en-US" sz="1200" dirty="0"/>
          </a:p>
        </p:txBody>
      </p:sp>
      <p:sp>
        <p:nvSpPr>
          <p:cNvPr id="57" name="Shape 49"/>
          <p:cNvSpPr/>
          <p:nvPr/>
        </p:nvSpPr>
        <p:spPr>
          <a:xfrm>
            <a:off x="9148343" y="5509260"/>
            <a:ext cx="200368" cy="0"/>
          </a:xfrm>
          <a:prstGeom prst="line">
            <a:avLst/>
          </a:prstGeom>
          <a:noFill/>
          <a:ln w="22225">
            <a:solidFill>
              <a:srgbClr val="1565D8"/>
            </a:solidFill>
            <a:prstDash val="solid"/>
            <a:tailEnd type="triangle"/>
          </a:ln>
        </p:spPr>
      </p:sp>
      <p:sp>
        <p:nvSpPr>
          <p:cNvPr id="58" name="Shape 50"/>
          <p:cNvSpPr/>
          <p:nvPr/>
        </p:nvSpPr>
        <p:spPr>
          <a:xfrm>
            <a:off x="9376143" y="5166360"/>
            <a:ext cx="1005840" cy="685800"/>
          </a:xfrm>
          <a:prstGeom prst="roundRect">
            <a:avLst>
              <a:gd name="adj" fmla="val 13333"/>
            </a:avLst>
          </a:prstGeom>
          <a:solidFill>
            <a:srgbClr val="0B1F3F"/>
          </a:solidFill>
          <a:ln w="6350">
            <a:solidFill>
              <a:srgbClr val="0B1F3F"/>
            </a:solidFill>
            <a:prstDash val="solid"/>
          </a:ln>
        </p:spPr>
      </p:sp>
      <p:sp>
        <p:nvSpPr>
          <p:cNvPr id="59" name="Text 51"/>
          <p:cNvSpPr txBox="1"/>
          <p:nvPr/>
        </p:nvSpPr>
        <p:spPr>
          <a:xfrm>
            <a:off x="9412719" y="5166360"/>
            <a:ext cx="932688"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Safety / Validation</a:t>
            </a:r>
            <a:endParaRPr lang="en-US" sz="1200" dirty="0"/>
          </a:p>
        </p:txBody>
      </p:sp>
      <p:sp>
        <p:nvSpPr>
          <p:cNvPr id="60" name="Shape 52"/>
          <p:cNvSpPr/>
          <p:nvPr/>
        </p:nvSpPr>
        <p:spPr>
          <a:xfrm>
            <a:off x="10409415" y="5509260"/>
            <a:ext cx="200368" cy="0"/>
          </a:xfrm>
          <a:prstGeom prst="line">
            <a:avLst/>
          </a:prstGeom>
          <a:noFill/>
          <a:ln w="22225">
            <a:solidFill>
              <a:srgbClr val="1565D8"/>
            </a:solidFill>
            <a:prstDash val="solid"/>
            <a:tailEnd type="triangle"/>
          </a:ln>
        </p:spPr>
      </p:sp>
      <p:sp>
        <p:nvSpPr>
          <p:cNvPr id="61" name="Shape 53"/>
          <p:cNvSpPr/>
          <p:nvPr/>
        </p:nvSpPr>
        <p:spPr>
          <a:xfrm>
            <a:off x="10637215" y="5166360"/>
            <a:ext cx="1005840" cy="685800"/>
          </a:xfrm>
          <a:prstGeom prst="roundRect">
            <a:avLst>
              <a:gd name="adj" fmla="val 13333"/>
            </a:avLst>
          </a:prstGeom>
          <a:solidFill>
            <a:srgbClr val="00B8D9"/>
          </a:solidFill>
          <a:ln w="6350">
            <a:solidFill>
              <a:srgbClr val="00B8D9"/>
            </a:solidFill>
            <a:prstDash val="solid"/>
          </a:ln>
        </p:spPr>
      </p:sp>
      <p:sp>
        <p:nvSpPr>
          <p:cNvPr id="62" name="Text 54"/>
          <p:cNvSpPr txBox="1"/>
          <p:nvPr/>
        </p:nvSpPr>
        <p:spPr>
          <a:xfrm>
            <a:off x="10673791" y="5166360"/>
            <a:ext cx="932688" cy="685800"/>
          </a:xfrm>
          <a:prstGeom prst="rect">
            <a:avLst/>
          </a:prstGeom>
          <a:noFill/>
          <a:ln/>
        </p:spPr>
        <p:txBody>
          <a:bodyPr wrap="square" lIns="0" tIns="0" rIns="0" bIns="0" rtlCol="0" anchor="ctr"/>
          <a:lstStyle/>
          <a:p>
            <a:pPr marL="0" indent="0" algn="ctr">
              <a:buNone/>
            </a:pPr>
            <a:r>
              <a:rPr lang="en-US" sz="1200" b="1" dirty="0">
                <a:solidFill>
                  <a:srgbClr val="0B1F3F"/>
                </a:solidFill>
                <a:latin typeface="Calibri" pitchFamily="34" charset="0"/>
                <a:ea typeface="Calibri" pitchFamily="34" charset="-122"/>
                <a:cs typeface="Calibri" pitchFamily="34" charset="-120"/>
              </a:rPr>
              <a:t>Final Report</a:t>
            </a:r>
            <a:endParaRPr lang="en-US" sz="1200" dirty="0"/>
          </a:p>
        </p:txBody>
      </p:sp>
      <p:sp>
        <p:nvSpPr>
          <p:cNvPr id="63" name="Text 55"/>
          <p:cNvSpPr txBox="1"/>
          <p:nvPr/>
        </p:nvSpPr>
        <p:spPr>
          <a:xfrm>
            <a:off x="548640" y="5989320"/>
            <a:ext cx="11094415" cy="274320"/>
          </a:xfrm>
          <a:prstGeom prst="rect">
            <a:avLst/>
          </a:prstGeom>
          <a:noFill/>
          <a:ln/>
        </p:spPr>
        <p:txBody>
          <a:bodyPr wrap="square" lIns="0" tIns="0" rIns="0" bIns="0" rtlCol="0" anchor="ctr"/>
          <a:lstStyle/>
          <a:p>
            <a:pPr marL="0" indent="0">
              <a:buNone/>
            </a:pPr>
            <a:r>
              <a:rPr lang="en-US" sz="1200" i="1" dirty="0">
                <a:solidFill>
                  <a:srgbClr val="5B6B82"/>
                </a:solidFill>
                <a:latin typeface="Calibri" pitchFamily="34" charset="0"/>
                <a:ea typeface="Calibri" pitchFamily="34" charset="-122"/>
                <a:cs typeface="Calibri" pitchFamily="34" charset="-120"/>
              </a:rPr>
              <a:t>Modular by design — the OCR provider, LLM provider, or reference source can be replaced without rewriting the app.</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F"/>
        </a:solidFill>
        <a:effectLst/>
      </p:bgPr>
    </p:bg>
    <p:spTree>
      <p:nvGrpSpPr>
        <p:cNvPr id="1" name=""/>
        <p:cNvGrpSpPr/>
        <p:nvPr/>
      </p:nvGrpSpPr>
      <p:grpSpPr>
        <a:xfrm>
          <a:off x="0" y="0"/>
          <a:ext cx="0" cy="0"/>
          <a:chOff x="0" y="0"/>
          <a:chExt cx="0" cy="0"/>
        </a:xfrm>
      </p:grpSpPr>
      <p:sp>
        <p:nvSpPr>
          <p:cNvPr id="2" name="Shape 0"/>
          <p:cNvSpPr/>
          <p:nvPr/>
        </p:nvSpPr>
        <p:spPr>
          <a:xfrm>
            <a:off x="5661508" y="960120"/>
            <a:ext cx="868680" cy="868680"/>
          </a:xfrm>
          <a:prstGeom prst="ellipse">
            <a:avLst/>
          </a:prstGeom>
          <a:solidFill>
            <a:srgbClr val="00B8D9"/>
          </a:solidFill>
          <a:ln w="6350">
            <a:solidFill>
              <a:srgbClr val="00B8D9"/>
            </a:solidFill>
            <a:prstDash val="solid"/>
          </a:ln>
        </p:spPr>
      </p:sp>
      <p:pic>
        <p:nvPicPr>
          <p:cNvPr id="3" name="Image 0" descr="preencoded.png"/>
          <p:cNvPicPr>
            <a:picLocks noChangeAspect="1"/>
          </p:cNvPicPr>
          <p:nvPr/>
        </p:nvPicPr>
        <p:blipFill>
          <a:blip r:embed="rId3"/>
          <a:stretch>
            <a:fillRect/>
          </a:stretch>
        </p:blipFill>
        <p:spPr>
          <a:xfrm>
            <a:off x="5878678" y="1177290"/>
            <a:ext cx="434340" cy="434340"/>
          </a:xfrm>
          <a:prstGeom prst="rect">
            <a:avLst/>
          </a:prstGeom>
        </p:spPr>
      </p:pic>
      <p:sp>
        <p:nvSpPr>
          <p:cNvPr id="4" name="Text 1"/>
          <p:cNvSpPr txBox="1"/>
          <p:nvPr/>
        </p:nvSpPr>
        <p:spPr>
          <a:xfrm>
            <a:off x="0" y="2011680"/>
            <a:ext cx="12191695" cy="914400"/>
          </a:xfrm>
          <a:prstGeom prst="rect">
            <a:avLst/>
          </a:prstGeom>
          <a:noFill/>
          <a:ln/>
        </p:spPr>
        <p:txBody>
          <a:bodyPr wrap="square" lIns="0" tIns="0" rIns="0" bIns="0" rtlCol="0" anchor="ctr"/>
          <a:lstStyle/>
          <a:p>
            <a:pPr marL="0" indent="0" algn="ctr">
              <a:buNone/>
            </a:pPr>
            <a:r>
              <a:rPr lang="en-US" sz="6600" b="1" kern="0" spc="800" dirty="0">
                <a:solidFill>
                  <a:srgbClr val="FFFFFF"/>
                </a:solidFill>
                <a:latin typeface="Calibri" pitchFamily="34" charset="0"/>
                <a:ea typeface="Calibri" pitchFamily="34" charset="-122"/>
                <a:cs typeface="Calibri" pitchFamily="34" charset="-120"/>
              </a:rPr>
              <a:t>MEDLENS</a:t>
            </a:r>
            <a:endParaRPr lang="en-US" sz="6600" dirty="0"/>
          </a:p>
        </p:txBody>
      </p:sp>
      <p:sp>
        <p:nvSpPr>
          <p:cNvPr id="5" name="Text 2"/>
          <p:cNvSpPr txBox="1"/>
          <p:nvPr/>
        </p:nvSpPr>
        <p:spPr>
          <a:xfrm>
            <a:off x="0" y="2971800"/>
            <a:ext cx="12191695" cy="457200"/>
          </a:xfrm>
          <a:prstGeom prst="rect">
            <a:avLst/>
          </a:prstGeom>
          <a:noFill/>
          <a:ln/>
        </p:spPr>
        <p:txBody>
          <a:bodyPr wrap="square" lIns="0" tIns="0" rIns="0" bIns="0" rtlCol="0" anchor="ctr"/>
          <a:lstStyle/>
          <a:p>
            <a:pPr marL="0" indent="0" algn="ctr">
              <a:buNone/>
            </a:pPr>
            <a:r>
              <a:rPr lang="en-US" sz="2200" dirty="0">
                <a:solidFill>
                  <a:srgbClr val="BFD9F2"/>
                </a:solidFill>
                <a:latin typeface="Calibri" pitchFamily="34" charset="0"/>
                <a:ea typeface="Calibri" pitchFamily="34" charset="-122"/>
                <a:cs typeface="Calibri" pitchFamily="34" charset="-120"/>
              </a:rPr>
              <a:t>AI-Powered Medicine Composition Analyzer</a:t>
            </a:r>
            <a:endParaRPr lang="en-US" sz="2200" dirty="0"/>
          </a:p>
        </p:txBody>
      </p:sp>
      <p:sp>
        <p:nvSpPr>
          <p:cNvPr id="6" name="Text 3"/>
          <p:cNvSpPr txBox="1"/>
          <p:nvPr/>
        </p:nvSpPr>
        <p:spPr>
          <a:xfrm>
            <a:off x="0" y="3474720"/>
            <a:ext cx="12191695" cy="457200"/>
          </a:xfrm>
          <a:prstGeom prst="rect">
            <a:avLst/>
          </a:prstGeom>
          <a:noFill/>
          <a:ln/>
        </p:spPr>
        <p:txBody>
          <a:bodyPr wrap="square" lIns="0" tIns="0" rIns="0" bIns="0" rtlCol="0" anchor="ctr"/>
          <a:lstStyle/>
          <a:p>
            <a:pPr marL="0" indent="0" algn="ctr">
              <a:buNone/>
            </a:pPr>
            <a:r>
              <a:rPr lang="en-US" sz="2000" b="1" dirty="0">
                <a:solidFill>
                  <a:srgbClr val="00B8D9"/>
                </a:solidFill>
                <a:latin typeface="Calibri" pitchFamily="34" charset="0"/>
                <a:ea typeface="Calibri" pitchFamily="34" charset="-122"/>
                <a:cs typeface="Calibri" pitchFamily="34" charset="-120"/>
              </a:rPr>
              <a:t>Scan. Understand. Verify.</a:t>
            </a:r>
            <a:endParaRPr lang="en-US" sz="2000" dirty="0"/>
          </a:p>
        </p:txBody>
      </p:sp>
      <p:sp>
        <p:nvSpPr>
          <p:cNvPr id="7" name="Text 4"/>
          <p:cNvSpPr txBox="1"/>
          <p:nvPr/>
        </p:nvSpPr>
        <p:spPr>
          <a:xfrm>
            <a:off x="0" y="4572000"/>
            <a:ext cx="12191695"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Open for Questions</a:t>
            </a:r>
            <a:endParaRPr lang="en-US" sz="4400" dirty="0"/>
          </a:p>
        </p:txBody>
      </p:sp>
      <p:sp>
        <p:nvSpPr>
          <p:cNvPr id="8" name="Text 5"/>
          <p:cNvSpPr txBox="1"/>
          <p:nvPr/>
        </p:nvSpPr>
        <p:spPr>
          <a:xfrm>
            <a:off x="0" y="5440680"/>
            <a:ext cx="12191695" cy="365760"/>
          </a:xfrm>
          <a:prstGeom prst="rect">
            <a:avLst/>
          </a:prstGeom>
          <a:noFill/>
          <a:ln/>
        </p:spPr>
        <p:txBody>
          <a:bodyPr wrap="square" lIns="0" tIns="0" rIns="0" bIns="0" rtlCol="0" anchor="ctr"/>
          <a:lstStyle/>
          <a:p>
            <a:pPr marL="0" indent="0" algn="ctr">
              <a:buNone/>
            </a:pPr>
            <a:r>
              <a:rPr lang="en-US" sz="1800" dirty="0">
                <a:solidFill>
                  <a:srgbClr val="BFD9F2"/>
                </a:solidFill>
                <a:latin typeface="Calibri" pitchFamily="34" charset="0"/>
                <a:ea typeface="Calibri" pitchFamily="34" charset="-122"/>
                <a:cs typeface="Calibri"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887</Words>
  <Application>Microsoft Office PowerPoint</Application>
  <PresentationFormat>Widescreen</PresentationFormat>
  <Paragraphs>143</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MedLens — AI-Powered Medicine Composition Analyzer</dc:title>
  <dc:subject>PptxGenJS Presentation</dc:subject>
  <dc:creator>MedLens</dc:creator>
  <cp:lastModifiedBy>Udeep Chowdary</cp:lastModifiedBy>
  <cp:revision>2</cp:revision>
  <dcterms:created xsi:type="dcterms:W3CDTF">2026-09-19T05:28:41Z</dcterms:created>
  <dcterms:modified xsi:type="dcterms:W3CDTF">2026-09-19T09:43:56Z</dcterms:modified>
</cp:coreProperties>
</file>